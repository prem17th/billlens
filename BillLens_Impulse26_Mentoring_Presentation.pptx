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Deck" id="{98b03116-daa3-6229-9c84-15bad7eae285}">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Leave as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 team. List the team lead first and delete any unused member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you are building, who it serves and why it matters. Keep the summary to 2–3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problem, the gaps in current solutions, and how your approach addresses them. Cite evidence where you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generic blocks with your own components, services, data sources and integrations. Add, remove or move blocks and connectors as needed. Delete any technology-stack categories that do not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working solution do the talking. Replace the frames with screenshots, photos or outputs; describe only what has actually been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what you have demonstrated from what you expect. Only report metrics you have measured, or label them clearly as projected.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you would take the solution forward after the hackathon. Keep stages realistic and avoid committing to dates you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MPULSE 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548640" y="1298448"/>
            <a:ext cx="11094415" cy="0"/>
          </a:xfrm>
          <a:prstGeom prst="line">
            <a:avLst/>
          </a:prstGeom>
          <a:noFill/>
          <a:ln w="9525">
            <a:solidFill>
              <a:schemeClr val="accent5"/>
            </a:solidFill>
            <a:prstDash val="solid"/>
          </a:ln>
        </p:spPr>
      </p:sp>
      <p:sp>
        <p:nvSpPr>
          <p:cNvPr id="3" name="Shape 1"/>
          <p:cNvSpPr/>
          <p:nvPr/>
        </p:nvSpPr>
        <p:spPr>
          <a:xfrm>
            <a:off x="548640" y="6455664"/>
            <a:ext cx="73152" cy="73152"/>
          </a:xfrm>
          <a:prstGeom prst="rect">
            <a:avLst/>
          </a:prstGeom>
          <a:solidFill>
            <a:schemeClr val="accent2"/>
          </a:solidFill>
          <a:ln/>
        </p:spPr>
      </p:sp>
      <p:sp>
        <p:nvSpPr>
          <p:cNvPr id="4" name="Text 2"/>
          <p:cNvSpPr/>
          <p:nvPr/>
        </p:nvSpPr>
        <p:spPr>
          <a:xfrm>
            <a:off x="694944" y="635508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IMPULSE ’26  |  AWS Student Builder Group, REVA University</a:t>
            </a:r>
            <a:endParaRPr lang="en-US" sz="1000" dirty="0"/>
          </a:p>
        </p:txBody>
      </p:sp>
      <p:sp>
        <p:nvSpPr>
          <p:cNvPr id="5" name="Text 3"/>
          <p:cNvSpPr/>
          <p:nvPr>
            <p:ph idx="103" type="body" hasCustomPrompt="1"/>
          </p:nvPr>
        </p:nvSpPr>
        <p:spPr>
          <a:xfrm>
            <a:off x="548640" y="384048"/>
            <a:ext cx="7315200" cy="256032"/>
          </a:xfrm>
          <a:prstGeom prst="rect">
            <a:avLst/>
          </a:prstGeom>
          <a:noFill/>
          <a:ln/>
        </p:spPr>
        <p:txBody>
          <a:bodyPr wrap="square" rtlCol="0"/>
          <a:lstStyle>
            <a:lvl1pPr algn="l" indent="0" marL="0">
              <a:buNone/>
              <a:defRPr lang="en-US" sz="1100" b="1" spc="200" kern="0" dirty="0">
                <a:solidFill>
                  <a:schemeClr val="accent2"/>
                </a:solidFill>
              </a:defRPr>
            </a:lvl1pPr>
          </a:lstStyle>
          <a:p>
            <a:pPr algn="l" indent="0" marL="0">
              <a:buNone/>
            </a:pPr>
            <a:endParaRPr lang="en-US" sz="1100" dirty="0"/>
          </a:p>
        </p:txBody>
      </p:sp>
      <p:sp>
        <p:nvSpPr>
          <p:cNvPr id="6" name="Text 3"/>
          <p:cNvSpPr/>
          <p:nvPr>
            <p:ph idx="104" type="title" hasCustomPrompt="1"/>
          </p:nvPr>
        </p:nvSpPr>
        <p:spPr>
          <a:xfrm>
            <a:off x="548640" y="640080"/>
            <a:ext cx="10058400" cy="56692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MPULSE 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logo_aws" descr="AWS logo">    </p:cNvPr>
          <p:cNvPicPr>
            <a:picLocks noChangeAspect="1"/>
          </p:cNvPicPr>
          <p:nvPr/>
        </p:nvPicPr>
        <p:blipFill>
          <a:blip r:embed="rId1"/>
          <a:stretch>
            <a:fillRect/>
          </a:stretch>
        </p:blipFill>
        <p:spPr>
          <a:xfrm>
            <a:off x="548640" y="502920"/>
            <a:ext cx="768285" cy="457200"/>
          </a:xfrm>
          <a:prstGeom prst="rect">
            <a:avLst/>
          </a:prstGeom>
        </p:spPr>
      </p:pic>
      <p:pic>
        <p:nvPicPr>
          <p:cNvPr id="4" name="logo_reva" descr="REVA University logo">    </p:cNvPr>
          <p:cNvPicPr>
            <a:picLocks noChangeAspect="1"/>
          </p:cNvPicPr>
          <p:nvPr/>
        </p:nvPicPr>
        <p:blipFill>
          <a:blip r:embed="rId2"/>
          <a:stretch>
            <a:fillRect/>
          </a:stretch>
        </p:blipFill>
        <p:spPr>
          <a:xfrm>
            <a:off x="9984256" y="475488"/>
            <a:ext cx="1658799" cy="512064"/>
          </a:xfrm>
          <a:prstGeom prst="rect">
            <a:avLst/>
          </a:prstGeom>
        </p:spPr>
      </p:pic>
      <p:sp>
        <p:nvSpPr>
          <p:cNvPr id="5" name="pixel_1"/>
          <p:cNvSpPr/>
          <p:nvPr/>
        </p:nvSpPr>
        <p:spPr>
          <a:xfrm>
            <a:off x="10424160" y="2331720"/>
            <a:ext cx="384048" cy="384048"/>
          </a:xfrm>
          <a:prstGeom prst="rect">
            <a:avLst/>
          </a:prstGeom>
          <a:ln w="12700">
            <a:solidFill>
              <a:schemeClr val="accent1"/>
            </a:solidFill>
            <a:prstDash val="solid"/>
          </a:ln>
        </p:spPr>
      </p:sp>
      <p:sp>
        <p:nvSpPr>
          <p:cNvPr id="6" name="pixel_2"/>
          <p:cNvSpPr/>
          <p:nvPr/>
        </p:nvSpPr>
        <p:spPr>
          <a:xfrm>
            <a:off x="10881360" y="2331720"/>
            <a:ext cx="384048" cy="384048"/>
          </a:xfrm>
          <a:prstGeom prst="rect">
            <a:avLst/>
          </a:prstGeom>
          <a:solidFill>
            <a:schemeClr val="accent1">
              <a:alpha val="40000"/>
            </a:schemeClr>
          </a:solidFill>
          <a:ln/>
        </p:spPr>
      </p:sp>
      <p:sp>
        <p:nvSpPr>
          <p:cNvPr id="7" name="pixel_3"/>
          <p:cNvSpPr/>
          <p:nvPr/>
        </p:nvSpPr>
        <p:spPr>
          <a:xfrm>
            <a:off x="9966960" y="2788920"/>
            <a:ext cx="384048" cy="384048"/>
          </a:xfrm>
          <a:prstGeom prst="rect">
            <a:avLst/>
          </a:prstGeom>
          <a:solidFill>
            <a:schemeClr val="accent1">
              <a:alpha val="40000"/>
            </a:schemeClr>
          </a:solidFill>
          <a:ln/>
        </p:spPr>
      </p:sp>
      <p:sp>
        <p:nvSpPr>
          <p:cNvPr id="8" name="pixel_4"/>
          <p:cNvSpPr/>
          <p:nvPr/>
        </p:nvSpPr>
        <p:spPr>
          <a:xfrm>
            <a:off x="10881360" y="2788920"/>
            <a:ext cx="384048" cy="384048"/>
          </a:xfrm>
          <a:prstGeom prst="rect">
            <a:avLst/>
          </a:prstGeom>
          <a:solidFill>
            <a:schemeClr val="accent1"/>
          </a:solidFill>
          <a:ln/>
        </p:spPr>
      </p:sp>
      <p:sp>
        <p:nvSpPr>
          <p:cNvPr id="9" name="pixel_5"/>
          <p:cNvSpPr/>
          <p:nvPr/>
        </p:nvSpPr>
        <p:spPr>
          <a:xfrm>
            <a:off x="9509760" y="3246120"/>
            <a:ext cx="384048" cy="384048"/>
          </a:xfrm>
          <a:prstGeom prst="rect">
            <a:avLst/>
          </a:prstGeom>
          <a:ln w="12700">
            <a:solidFill>
              <a:schemeClr val="accent1"/>
            </a:solidFill>
            <a:prstDash val="solid"/>
          </a:ln>
        </p:spPr>
      </p:sp>
      <p:sp>
        <p:nvSpPr>
          <p:cNvPr id="10" name="pixel_6"/>
          <p:cNvSpPr/>
          <p:nvPr/>
        </p:nvSpPr>
        <p:spPr>
          <a:xfrm>
            <a:off x="10424160" y="3246120"/>
            <a:ext cx="384048" cy="384048"/>
          </a:xfrm>
          <a:prstGeom prst="rect">
            <a:avLst/>
          </a:prstGeom>
          <a:solidFill>
            <a:schemeClr val="accent1"/>
          </a:solidFill>
          <a:ln/>
        </p:spPr>
      </p:sp>
      <p:sp>
        <p:nvSpPr>
          <p:cNvPr id="11" name="pixel_7"/>
          <p:cNvSpPr/>
          <p:nvPr/>
        </p:nvSpPr>
        <p:spPr>
          <a:xfrm>
            <a:off x="10881360" y="3246120"/>
            <a:ext cx="384048" cy="384048"/>
          </a:xfrm>
          <a:prstGeom prst="rect">
            <a:avLst/>
          </a:prstGeom>
          <a:solidFill>
            <a:schemeClr val="accent1">
              <a:alpha val="40000"/>
            </a:schemeClr>
          </a:solidFill>
          <a:ln/>
        </p:spPr>
      </p:sp>
      <p:sp>
        <p:nvSpPr>
          <p:cNvPr id="12" name="pixel_8"/>
          <p:cNvSpPr/>
          <p:nvPr/>
        </p:nvSpPr>
        <p:spPr>
          <a:xfrm>
            <a:off x="9052560" y="3703320"/>
            <a:ext cx="384048" cy="384048"/>
          </a:xfrm>
          <a:prstGeom prst="rect">
            <a:avLst/>
          </a:prstGeom>
          <a:solidFill>
            <a:schemeClr val="accent1">
              <a:alpha val="40000"/>
            </a:schemeClr>
          </a:solidFill>
          <a:ln/>
        </p:spPr>
      </p:sp>
      <p:sp>
        <p:nvSpPr>
          <p:cNvPr id="13" name="pixel_9"/>
          <p:cNvSpPr/>
          <p:nvPr/>
        </p:nvSpPr>
        <p:spPr>
          <a:xfrm>
            <a:off x="9966960" y="3703320"/>
            <a:ext cx="384048" cy="384048"/>
          </a:xfrm>
          <a:prstGeom prst="rect">
            <a:avLst/>
          </a:prstGeom>
          <a:solidFill>
            <a:schemeClr val="accent1"/>
          </a:solidFill>
          <a:ln/>
        </p:spPr>
      </p:sp>
      <p:sp>
        <p:nvSpPr>
          <p:cNvPr id="14" name="pixel_10"/>
          <p:cNvSpPr/>
          <p:nvPr/>
        </p:nvSpPr>
        <p:spPr>
          <a:xfrm>
            <a:off x="10424160" y="3703320"/>
            <a:ext cx="384048" cy="384048"/>
          </a:xfrm>
          <a:prstGeom prst="rect">
            <a:avLst/>
          </a:prstGeom>
          <a:solidFill>
            <a:schemeClr val="accent2"/>
          </a:solidFill>
          <a:ln/>
        </p:spPr>
      </p:sp>
      <p:sp>
        <p:nvSpPr>
          <p:cNvPr id="15" name="pixel_11"/>
          <p:cNvSpPr/>
          <p:nvPr/>
        </p:nvSpPr>
        <p:spPr>
          <a:xfrm>
            <a:off x="10881360" y="3703320"/>
            <a:ext cx="384048" cy="384048"/>
          </a:xfrm>
          <a:prstGeom prst="rect">
            <a:avLst/>
          </a:prstGeom>
          <a:solidFill>
            <a:schemeClr val="accent1"/>
          </a:solidFill>
          <a:ln/>
        </p:spPr>
      </p:sp>
      <p:sp>
        <p:nvSpPr>
          <p:cNvPr id="16" name="pixel_12"/>
          <p:cNvSpPr/>
          <p:nvPr/>
        </p:nvSpPr>
        <p:spPr>
          <a:xfrm>
            <a:off x="8595360" y="4160520"/>
            <a:ext cx="384048" cy="384048"/>
          </a:xfrm>
          <a:prstGeom prst="rect">
            <a:avLst/>
          </a:prstGeom>
          <a:ln w="12700">
            <a:solidFill>
              <a:schemeClr val="accent1"/>
            </a:solidFill>
            <a:prstDash val="solid"/>
          </a:ln>
        </p:spPr>
      </p:sp>
      <p:sp>
        <p:nvSpPr>
          <p:cNvPr id="17" name="pixel_13"/>
          <p:cNvSpPr/>
          <p:nvPr/>
        </p:nvSpPr>
        <p:spPr>
          <a:xfrm>
            <a:off x="9509760" y="4160520"/>
            <a:ext cx="384048" cy="384048"/>
          </a:xfrm>
          <a:prstGeom prst="rect">
            <a:avLst/>
          </a:prstGeom>
          <a:solidFill>
            <a:schemeClr val="accent1">
              <a:alpha val="40000"/>
            </a:schemeClr>
          </a:solidFill>
          <a:ln/>
        </p:spPr>
      </p:sp>
      <p:sp>
        <p:nvSpPr>
          <p:cNvPr id="18" name="pixel_14"/>
          <p:cNvSpPr/>
          <p:nvPr/>
        </p:nvSpPr>
        <p:spPr>
          <a:xfrm>
            <a:off x="9966960" y="4160520"/>
            <a:ext cx="384048" cy="384048"/>
          </a:xfrm>
          <a:prstGeom prst="rect">
            <a:avLst/>
          </a:prstGeom>
          <a:solidFill>
            <a:schemeClr val="accent1"/>
          </a:solidFill>
          <a:ln/>
        </p:spPr>
      </p:sp>
      <p:sp>
        <p:nvSpPr>
          <p:cNvPr id="19" name="pixel_15"/>
          <p:cNvSpPr/>
          <p:nvPr/>
        </p:nvSpPr>
        <p:spPr>
          <a:xfrm>
            <a:off x="10881360" y="4160520"/>
            <a:ext cx="384048" cy="384048"/>
          </a:xfrm>
          <a:prstGeom prst="rect">
            <a:avLst/>
          </a:prstGeom>
          <a:solidFill>
            <a:schemeClr val="accent1">
              <a:alpha val="40000"/>
            </a:schemeClr>
          </a:solidFill>
          <a:ln/>
        </p:spPr>
      </p:sp>
      <p:sp>
        <p:nvSpPr>
          <p:cNvPr id="20" name="pixel_16"/>
          <p:cNvSpPr/>
          <p:nvPr/>
        </p:nvSpPr>
        <p:spPr>
          <a:xfrm>
            <a:off x="8138160" y="4617720"/>
            <a:ext cx="384048" cy="384048"/>
          </a:xfrm>
          <a:prstGeom prst="rect">
            <a:avLst/>
          </a:prstGeom>
          <a:solidFill>
            <a:schemeClr val="accent1">
              <a:alpha val="40000"/>
            </a:schemeClr>
          </a:solidFill>
          <a:ln/>
        </p:spPr>
      </p:sp>
      <p:sp>
        <p:nvSpPr>
          <p:cNvPr id="21" name="pixel_17"/>
          <p:cNvSpPr/>
          <p:nvPr/>
        </p:nvSpPr>
        <p:spPr>
          <a:xfrm>
            <a:off x="9052560" y="4617720"/>
            <a:ext cx="384048" cy="384048"/>
          </a:xfrm>
          <a:prstGeom prst="rect">
            <a:avLst/>
          </a:prstGeom>
          <a:solidFill>
            <a:schemeClr val="accent1"/>
          </a:solidFill>
          <a:ln/>
        </p:spPr>
      </p:sp>
      <p:sp>
        <p:nvSpPr>
          <p:cNvPr id="22" name="pixel_18"/>
          <p:cNvSpPr/>
          <p:nvPr/>
        </p:nvSpPr>
        <p:spPr>
          <a:xfrm>
            <a:off x="9509760" y="4617720"/>
            <a:ext cx="384048" cy="384048"/>
          </a:xfrm>
          <a:prstGeom prst="rect">
            <a:avLst/>
          </a:prstGeom>
          <a:solidFill>
            <a:schemeClr val="accent1"/>
          </a:solidFill>
          <a:ln/>
        </p:spPr>
      </p:sp>
      <p:sp>
        <p:nvSpPr>
          <p:cNvPr id="23" name="pixel_19"/>
          <p:cNvSpPr/>
          <p:nvPr/>
        </p:nvSpPr>
        <p:spPr>
          <a:xfrm>
            <a:off x="10424160" y="4617720"/>
            <a:ext cx="384048" cy="384048"/>
          </a:xfrm>
          <a:prstGeom prst="rect">
            <a:avLst/>
          </a:prstGeom>
          <a:solidFill>
            <a:schemeClr val="accent1"/>
          </a:solidFill>
          <a:ln/>
        </p:spPr>
      </p:sp>
      <p:sp>
        <p:nvSpPr>
          <p:cNvPr id="24" name="pixel_20"/>
          <p:cNvSpPr/>
          <p:nvPr/>
        </p:nvSpPr>
        <p:spPr>
          <a:xfrm>
            <a:off x="10881360" y="4617720"/>
            <a:ext cx="384048" cy="384048"/>
          </a:xfrm>
          <a:prstGeom prst="rect">
            <a:avLst/>
          </a:prstGeom>
          <a:solidFill>
            <a:schemeClr val="accent1"/>
          </a:solidFill>
          <a:ln/>
        </p:spPr>
      </p:sp>
      <p:sp>
        <p:nvSpPr>
          <p:cNvPr id="25" name="cover_kicker"/>
          <p:cNvSpPr txBox="1"/>
          <p:nvPr/>
        </p:nvSpPr>
        <p:spPr>
          <a:xfrm>
            <a:off x="548640" y="2057400"/>
            <a:ext cx="73152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AWS STUDENT BUILDER GROUP  ·  REVA UNIVERSITY</a:t>
            </a:r>
            <a:endParaRPr lang="en-US" sz="1200" dirty="0"/>
          </a:p>
        </p:txBody>
      </p:sp>
      <p:sp>
        <p:nvSpPr>
          <p:cNvPr id="26" name="cover_title"/>
          <p:cNvSpPr txBox="1"/>
          <p:nvPr/>
        </p:nvSpPr>
        <p:spPr>
          <a:xfrm>
            <a:off x="548640" y="2377440"/>
            <a:ext cx="7498080" cy="1234440"/>
          </a:xfrm>
          <a:prstGeom prst="rect">
            <a:avLst/>
          </a:prstGeom>
          <a:noFill/>
          <a:ln/>
        </p:spPr>
        <p:txBody>
          <a:bodyPr wrap="square" lIns="36576" tIns="36576" rIns="36576" bIns="36576" rtlCol="0" anchor="ctr"/>
          <a:lstStyle/>
          <a:p>
            <a:pPr indent="0" marL="0">
              <a:lnSpc>
                <a:spcPct val="110000"/>
              </a:lnSpc>
              <a:spcAft>
                <a:spcPts val="0"/>
              </a:spcAft>
              <a:buNone/>
              <a:defRPr sz="4200" b="1">
                <a:solidFill>
                  <a:srgbClr val="FFFFFF"/>
                </a:solidFill>
                <a:latin typeface="Segoe UI"/>
              </a:defRPr>
            </a:pPr>
            <a:pPr indent="0" marL="0">
              <a:buNone/>
            </a:pPr>
            <a:r>
              <a:rPr sz="4200" b="1">
                <a:solidFill>
                  <a:srgbClr val="FFFFFF"/>
                </a:solidFill>
                <a:latin typeface="Segoe UI"/>
              </a:rPr>
              <a:t>BillLens</a:t>
            </a:r>
            <a:endParaRPr lang="en-US" sz="8800" dirty="0"/>
          </a:p>
        </p:txBody>
      </p:sp>
      <p:sp>
        <p:nvSpPr>
          <p:cNvPr id="27" name="cover_subtitle"/>
          <p:cNvSpPr txBox="1"/>
          <p:nvPr/>
        </p:nvSpPr>
        <p:spPr>
          <a:xfrm>
            <a:off x="548640" y="3703320"/>
            <a:ext cx="7315200" cy="457200"/>
          </a:xfrm>
          <a:prstGeom prst="rect">
            <a:avLst/>
          </a:prstGeom>
          <a:noFill/>
          <a:ln/>
        </p:spPr>
        <p:txBody>
          <a:bodyPr wrap="square" lIns="36576" tIns="36576" rIns="36576" bIns="36576" rtlCol="0" anchor="ctr"/>
          <a:lstStyle/>
          <a:p>
            <a:pPr indent="0" marL="0">
              <a:lnSpc>
                <a:spcPct val="115000"/>
              </a:lnSpc>
              <a:spcAft>
                <a:spcPts val="0"/>
              </a:spcAft>
              <a:buNone/>
              <a:defRPr sz="1500" b="1">
                <a:solidFill>
                  <a:srgbClr val="E2E8F0"/>
                </a:solidFill>
                <a:latin typeface="Segoe UI"/>
              </a:defRPr>
            </a:pPr>
            <a:r>
              <a:rPr sz="1500" b="1">
                <a:solidFill>
                  <a:srgbClr val="E2E8F0"/>
                </a:solidFill>
                <a:latin typeface="Segoe UI"/>
              </a:rPr>
              <a:t>AI-Powered MSME Cash-Flow Early Warning &amp; Autonomous Underwriting System</a:t>
            </a:r>
            <a:endParaRPr lang="en-US" sz="2600" dirty="0"/>
          </a:p>
        </p:txBody>
      </p:sp>
      <p:sp>
        <p:nvSpPr>
          <p:cNvPr id="28" name="cover_details"/>
          <p:cNvSpPr txBox="1"/>
          <p:nvPr/>
        </p:nvSpPr>
        <p:spPr>
          <a:xfrm>
            <a:off x="548640" y="4251960"/>
            <a:ext cx="7315200" cy="320040"/>
          </a:xfrm>
          <a:prstGeom prst="rect">
            <a:avLst/>
          </a:prstGeom>
          <a:noFill/>
          <a:ln/>
        </p:spPr>
        <p:txBody>
          <a:bodyPr wrap="square" lIns="36576" tIns="36576" rIns="36576" bIns="36576" rtlCol="0" anchor="ctr"/>
          <a:lstStyle/>
          <a:p>
            <a:pPr indent="0" marL="0">
              <a:lnSpc>
                <a:spcPct val="110000"/>
              </a:lnSpc>
              <a:spcAft>
                <a:spcPts val="0"/>
              </a:spcAft>
              <a:buNone/>
              <a:defRPr sz="1100" b="0">
                <a:solidFill>
                  <a:srgbClr val="E2E8F0"/>
                </a:solidFill>
                <a:latin typeface="Segoe UI"/>
              </a:defRPr>
            </a:pPr>
            <a:r>
              <a:rPr sz="1100" b="0">
                <a:solidFill>
                  <a:srgbClr val="E2E8F0"/>
                </a:solidFill>
                <a:latin typeface="Segoe UI"/>
              </a:rPr>
              <a:t>23–24 October 2026   |   Rangasthala, REVA University, Bengaluru</a:t>
            </a:r>
            <a:endParaRPr lang="en-US" sz="1600" dirty="0"/>
          </a:p>
        </p:txBody>
      </p:sp>
      <p:sp>
        <p:nvSpPr>
          <p:cNvPr id="29" name="cover_chip"/>
          <p:cNvSpPr txBox="1"/>
          <p:nvPr/>
        </p:nvSpPr>
        <p:spPr>
          <a:xfrm>
            <a:off x="548640" y="4983480"/>
            <a:ext cx="5394960" cy="411480"/>
          </a:xfrm>
          <a:prstGeom prst="rect">
            <a:avLst/>
          </a:prstGeom>
          <a:noFill/>
          <a:ln w="12700">
            <a:solidFill>
              <a:schemeClr val="accent2"/>
            </a:solidFill>
          </a:ln>
        </p:spPr>
        <p:txBody>
          <a:bodyPr wrap="square" lIns="36576" tIns="36576" rIns="36576" bIns="36576" rtlCol="0" anchor="ctr"/>
          <a:lstStyle/>
          <a:p>
            <a:pPr algn="ctr" indent="0" marL="0">
              <a:lnSpc>
                <a:spcPct val="110000"/>
              </a:lnSpc>
              <a:spcAft>
                <a:spcPts val="0"/>
              </a:spcAft>
              <a:buNone/>
              <a:defRPr sz="1000" b="1">
                <a:solidFill>
                  <a:srgbClr val="FF9900"/>
                </a:solidFill>
                <a:latin typeface="Segoe UI"/>
              </a:defRPr>
            </a:pPr>
            <a:r>
              <a:rPr sz="1000" b="1">
                <a:solidFill>
                  <a:srgbClr val="FF9900"/>
                </a:solidFill>
                <a:latin typeface="Segoe UI"/>
              </a:rPr>
              <a:t>MENTORING ROUND  ·  SOLUTION PRESENTATION  ·  FINTECH TRACK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731520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02  —  TEAM</a:t>
            </a:r>
            <a:endParaRPr lang="en-US" sz="1100" dirty="0"/>
          </a:p>
        </p:txBody>
      </p:sp>
      <p:sp>
        <p:nvSpPr>
          <p:cNvPr id="3" name="Text 3"/>
          <p:cNvSpPr/>
          <p:nvPr>
            <p:ph idx="104" type="title" hasCustomPrompt="1"/>
          </p:nvPr>
        </p:nvSpPr>
        <p:spPr>
          <a:xfrm>
            <a:off x="548640" y="640080"/>
            <a:ext cx="10058400" cy="566928"/>
          </a:xfrm>
          <a:prstGeom prst="rect">
            <a:avLst/>
          </a:prstGeom>
          <a:noFill/>
          <a:ln/>
        </p:spPr>
        <p:txBody>
          <a:bodyPr wrap="square" lIns="0" tIns="0" rIns="0" bIns="0" rtlCol="0" anchor="ctr"/>
          <a:lstStyle/>
          <a:p>
            <a:pPr algn="l" indent="0" marL="0">
              <a:buNone/>
            </a:pPr>
            <a:r>
              <a:rPr lang="en-US" sz="3000" b="1" dirty="0">
                <a:solidFill>
                  <a:schemeClr val="tx2"/>
                </a:solidFill>
              </a:rPr>
              <a:t>Team Introduction</a:t>
            </a:r>
            <a:endParaRPr lang="en-US" sz="3000" dirty="0"/>
          </a:p>
        </p:txBody>
      </p:sp>
      <p:sp>
        <p:nvSpPr>
          <p:cNvPr id="5" name="card_Team Name_21"/>
          <p:cNvSpPr/>
          <p:nvPr/>
        </p:nvSpPr>
        <p:spPr>
          <a:xfrm>
            <a:off x="548640" y="1508760"/>
            <a:ext cx="6720840" cy="1051560"/>
          </a:xfrm>
          <a:prstGeom prst="rect">
            <a:avLst/>
          </a:prstGeom>
          <a:solidFill>
            <a:schemeClr val="bg2"/>
          </a:solidFill>
          <a:ln/>
        </p:spPr>
      </p:sp>
      <p:sp>
        <p:nvSpPr>
          <p:cNvPr id="6" name="marker_22"/>
          <p:cNvSpPr/>
          <p:nvPr/>
        </p:nvSpPr>
        <p:spPr>
          <a:xfrm>
            <a:off x="777240" y="1828800"/>
            <a:ext cx="91440" cy="91440"/>
          </a:xfrm>
          <a:prstGeom prst="rect">
            <a:avLst/>
          </a:prstGeom>
          <a:solidFill>
            <a:schemeClr val="accent2"/>
          </a:solidFill>
          <a:ln/>
        </p:spPr>
      </p:sp>
      <p:sp>
        <p:nvSpPr>
          <p:cNvPr id="7" name="label_23"/>
          <p:cNvSpPr txBox="1"/>
          <p:nvPr/>
        </p:nvSpPr>
        <p:spPr>
          <a:xfrm>
            <a:off x="960120" y="1737360"/>
            <a:ext cx="6080760" cy="274320"/>
          </a:xfrm>
          <a:prstGeom prst="rect">
            <a:avLst/>
          </a:prstGeom>
          <a:noFill/>
          <a:ln/>
        </p:spPr>
        <p:txBody>
          <a:bodyPr wrap="square" lIns="0" tIns="0" rIns="0" bIns="0" rtlCol="0" anchor="ctr"/>
          <a:lstStyle/>
          <a:p>
            <a:pPr indent="0" marL="0">
              <a:buNone/>
            </a:pPr>
            <a:r>
              <a:rPr lang="en-US" sz="1400" b="1" dirty="0">
                <a:solidFill>
                  <a:schemeClr val="tx2"/>
                </a:solidFill>
              </a:rPr>
              <a:t>Team Name</a:t>
            </a:r>
            <a:endParaRPr lang="en-US" sz="1400" dirty="0"/>
          </a:p>
        </p:txBody>
      </p:sp>
      <p:sp>
        <p:nvSpPr>
          <p:cNvPr id="8" name="content_24"/>
          <p:cNvSpPr txBox="1"/>
          <p:nvPr/>
        </p:nvSpPr>
        <p:spPr>
          <a:xfrm>
            <a:off x="777240" y="2148840"/>
            <a:ext cx="6263640" cy="182880"/>
          </a:xfrm>
          <a:prstGeom prst="rect">
            <a:avLst/>
          </a:prstGeom>
          <a:noFill/>
          <a:ln/>
        </p:spPr>
        <p:txBody>
          <a:bodyPr wrap="square" lIns="36576" tIns="36576" rIns="36576" bIns="36576" rtlCol="0" anchor="t"/>
          <a:lstStyle/>
          <a:p>
            <a:pPr indent="0" marL="0">
              <a:lnSpc>
                <a:spcPct val="110000"/>
              </a:lnSpc>
              <a:spcAft>
                <a:spcPts val="0"/>
              </a:spcAft>
              <a:buNone/>
              <a:defRPr sz="1800" b="1">
                <a:solidFill>
                  <a:srgbClr val="232F3E"/>
                </a:solidFill>
                <a:latin typeface="Segoe UI"/>
              </a:defRPr>
            </a:pPr>
            <a:r>
              <a:rPr sz="1800" b="1">
                <a:solidFill>
                  <a:srgbClr val="232F3E"/>
                </a:solidFill>
                <a:latin typeface="Segoe UI"/>
              </a:rPr>
              <a:t>CodeStorm</a:t>
            </a:r>
            <a:endParaRPr lang="en-US" sz="2000" dirty="0"/>
          </a:p>
        </p:txBody>
      </p:sp>
      <p:sp>
        <p:nvSpPr>
          <p:cNvPr id="9" name="card_College / University_25"/>
          <p:cNvSpPr/>
          <p:nvPr/>
        </p:nvSpPr>
        <p:spPr>
          <a:xfrm>
            <a:off x="7498080" y="1508760"/>
            <a:ext cx="4144975" cy="1051560"/>
          </a:xfrm>
          <a:prstGeom prst="rect">
            <a:avLst/>
          </a:prstGeom>
          <a:solidFill>
            <a:schemeClr val="bg2"/>
          </a:solidFill>
          <a:ln/>
        </p:spPr>
      </p:sp>
      <p:sp>
        <p:nvSpPr>
          <p:cNvPr id="10" name="marker_26"/>
          <p:cNvSpPr/>
          <p:nvPr/>
        </p:nvSpPr>
        <p:spPr>
          <a:xfrm>
            <a:off x="7726680" y="1828800"/>
            <a:ext cx="91440" cy="91440"/>
          </a:xfrm>
          <a:prstGeom prst="rect">
            <a:avLst/>
          </a:prstGeom>
          <a:solidFill>
            <a:schemeClr val="accent2"/>
          </a:solidFill>
          <a:ln/>
        </p:spPr>
      </p:sp>
      <p:sp>
        <p:nvSpPr>
          <p:cNvPr id="11" name="label_27"/>
          <p:cNvSpPr txBox="1"/>
          <p:nvPr/>
        </p:nvSpPr>
        <p:spPr>
          <a:xfrm>
            <a:off x="7909560" y="1737360"/>
            <a:ext cx="3504895" cy="274320"/>
          </a:xfrm>
          <a:prstGeom prst="rect">
            <a:avLst/>
          </a:prstGeom>
          <a:noFill/>
          <a:ln/>
        </p:spPr>
        <p:txBody>
          <a:bodyPr wrap="square" lIns="0" tIns="0" rIns="0" bIns="0" rtlCol="0" anchor="ctr"/>
          <a:lstStyle/>
          <a:p>
            <a:pPr indent="0" marL="0">
              <a:buNone/>
            </a:pPr>
            <a:r>
              <a:rPr lang="en-US" sz="1400" b="1" dirty="0">
                <a:solidFill>
                  <a:schemeClr val="tx2"/>
                </a:solidFill>
              </a:rPr>
              <a:t>College / University</a:t>
            </a:r>
            <a:endParaRPr lang="en-US" sz="1400" dirty="0"/>
          </a:p>
        </p:txBody>
      </p:sp>
      <p:sp>
        <p:nvSpPr>
          <p:cNvPr id="12" name="content_28"/>
          <p:cNvSpPr txBox="1"/>
          <p:nvPr/>
        </p:nvSpPr>
        <p:spPr>
          <a:xfrm>
            <a:off x="7726680" y="2148840"/>
            <a:ext cx="3687775" cy="182880"/>
          </a:xfrm>
          <a:prstGeom prst="rect">
            <a:avLst/>
          </a:prstGeom>
          <a:noFill/>
          <a:ln/>
        </p:spPr>
        <p:txBody>
          <a:bodyPr wrap="square" lIns="36576" tIns="36576" rIns="36576" bIns="36576" rtlCol="0" anchor="t"/>
          <a:lstStyle/>
          <a:p>
            <a:pPr indent="0" marL="0">
              <a:lnSpc>
                <a:spcPct val="115000"/>
              </a:lnSpc>
              <a:spcAft>
                <a:spcPts val="200"/>
              </a:spcAft>
              <a:buNone/>
              <a:defRPr sz="1000" b="1">
                <a:solidFill>
                  <a:srgbClr val="232F3E"/>
                </a:solidFill>
                <a:latin typeface="Segoe UI"/>
              </a:defRPr>
            </a:pPr>
            <a:r>
              <a:rPr sz="1000" b="1">
                <a:solidFill>
                  <a:srgbClr val="232F3E"/>
                </a:solidFill>
                <a:latin typeface="Segoe UI"/>
              </a:rPr>
              <a:t>• Ambedkar Institute Of Technology</a:t>
            </a:r>
            <a:endParaRPr lang="en-US" sz="1600" dirty="0"/>
          </a:p>
          <a:p>
            <a:pPr>
              <a:lnSpc>
                <a:spcPct val="115000"/>
              </a:lnSpc>
              <a:spcAft>
                <a:spcPts val="200"/>
              </a:spcAft>
              <a:defRPr sz="1000" b="1">
                <a:solidFill>
                  <a:srgbClr val="232F3E"/>
                </a:solidFill>
                <a:latin typeface="Segoe UI"/>
              </a:defRPr>
            </a:pPr>
            <a:r>
              <a:rPr sz="1000" b="1">
                <a:solidFill>
                  <a:srgbClr val="232F3E"/>
                </a:solidFill>
                <a:latin typeface="Segoe UI"/>
              </a:rPr>
              <a:t>• M.S. Ramaiah College of Arts, Science and Commerce</a:t>
            </a:r>
          </a:p>
        </p:txBody>
      </p:sp>
      <p:sp>
        <p:nvSpPr>
          <p:cNvPr id="13" name="marker_29"/>
          <p:cNvSpPr/>
          <p:nvPr/>
        </p:nvSpPr>
        <p:spPr>
          <a:xfrm>
            <a:off x="548640" y="2971800"/>
            <a:ext cx="91440" cy="91440"/>
          </a:xfrm>
          <a:prstGeom prst="rect">
            <a:avLst/>
          </a:prstGeom>
          <a:solidFill>
            <a:schemeClr val="accent2"/>
          </a:solidFill>
          <a:ln/>
        </p:spPr>
      </p:sp>
      <p:sp>
        <p:nvSpPr>
          <p:cNvPr id="14" name="label_30"/>
          <p:cNvSpPr txBox="1"/>
          <p:nvPr/>
        </p:nvSpPr>
        <p:spPr>
          <a:xfrm>
            <a:off x="731520" y="2880360"/>
            <a:ext cx="2743200" cy="274320"/>
          </a:xfrm>
          <a:prstGeom prst="rect">
            <a:avLst/>
          </a:prstGeom>
          <a:noFill/>
          <a:ln/>
        </p:spPr>
        <p:txBody>
          <a:bodyPr wrap="square" lIns="0" tIns="0" rIns="0" bIns="0" rtlCol="0" anchor="ctr"/>
          <a:lstStyle/>
          <a:p>
            <a:pPr indent="0" marL="0">
              <a:buNone/>
            </a:pPr>
            <a:r>
              <a:rPr lang="en-US" sz="1400" b="1" dirty="0">
                <a:solidFill>
                  <a:schemeClr val="tx2"/>
                </a:solidFill>
              </a:rPr>
              <a:t>Team Members</a:t>
            </a:r>
            <a:endParaRPr lang="en-US" sz="1400" dirty="0"/>
          </a:p>
        </p:txBody>
      </p:sp>
      <p:sp>
        <p:nvSpPr>
          <p:cNvPr id="15" name="hint_31"/>
          <p:cNvSpPr txBox="1"/>
          <p:nvPr/>
        </p:nvSpPr>
        <p:spPr>
          <a:xfrm>
            <a:off x="6156655" y="2880360"/>
            <a:ext cx="5486400" cy="274320"/>
          </a:xfrm>
          <a:prstGeom prst="rect">
            <a:avLst/>
          </a:prstGeom>
          <a:noFill/>
          <a:ln/>
        </p:spPr>
        <p:txBody>
          <a:bodyPr wrap="square" lIns="36576" tIns="36576" rIns="36576" bIns="36576" rtlCol="0" anchor="ctr"/>
          <a:lstStyle/>
          <a:p>
            <a:pPr>
              <a:lnSpc>
                <a:spcPct val="110000"/>
              </a:lnSpc>
              <a:spcAft>
                <a:spcPts val="0"/>
              </a:spcAft>
              <a:defRPr sz="800" b="0">
                <a:solidFill>
                  <a:srgbClr val="94A3B8"/>
                </a:solidFill>
                <a:latin typeface="Segoe UI"/>
              </a:defRPr>
            </a:pPr>
            <a:r>
              <a:rPr sz="800" b="0">
                <a:solidFill>
                  <a:srgbClr val="94A3B8"/>
                </a:solidFill>
                <a:latin typeface="Segoe UI"/>
              </a:rPr>
              <a:t>Team lead first. Fill the highlighted personal details before submission.</a:t>
            </a:r>
          </a:p>
        </p:txBody>
      </p:sp>
      <p:graphicFrame>
        <p:nvGraphicFramePr>
          <p:cNvPr id="3" name="members_table_32"/>
          <p:cNvGraphicFramePr>
            <a:graphicFrameLocks noGrp="1"/>
          </p:cNvGraphicFramePr>
          <p:nvPr>
            <p:extLst>
              <p:ext uri="{D42A27DB-BD31-4B8C-83A1-F6EECF244321}">
                <p14:modId xmlns:p14="http://schemas.microsoft.com/office/powerpoint/2010/main" val="1579011935"/>
              </p:ext>
            </p:extLst>
          </p:nvPr>
        </p:nvGraphicFramePr>
        <p:xfrm>
          <a:off x="548640" y="3291840"/>
          <a:ext cx="11094415" cy="914400"/>
        </p:xfrm>
        <a:graphic>
          <a:graphicData uri="http://schemas.openxmlformats.org/drawingml/2006/table">
            <a:tbl>
              <a:tblPr/>
              <a:tblGrid>
                <a:gridCol w="685800"/>
                <a:gridCol w="3474720"/>
                <a:gridCol w="3291840"/>
                <a:gridCol w="868680"/>
                <a:gridCol w="914400"/>
                <a:gridCol w="1858975"/>
              </a:tblGrid>
              <a:tr h="411480">
                <a:tc>
                  <a:txBody>
                    <a:bodyPr/>
                    <a:lstStyle/>
                    <a:p>
                      <a:pPr>
                        <a:defRPr sz="950" b="1">
                          <a:solidFill>
                            <a:srgbClr val="FFFFFF"/>
                          </a:solidFill>
                          <a:latin typeface="Segoe UI"/>
                        </a:defRPr>
                      </a:pPr>
                      <a:r>
                        <a:rPr sz="950" b="1">
                          <a:solidFill>
                            <a:srgbClr val="FFFFFF"/>
                          </a:solidFill>
                          <a:latin typeface="Segoe UI"/>
                        </a:rPr>
                        <a:t>NO:-</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tx2"/>
                    </a:solidFill>
                  </a:tcPr>
                </a:tc>
                <a:tc>
                  <a:txBody>
                    <a:bodyPr/>
                    <a:lstStyle/>
                    <a:p>
                      <a:pPr>
                        <a:defRPr sz="950" b="1">
                          <a:solidFill>
                            <a:srgbClr val="FFFFFF"/>
                          </a:solidFill>
                          <a:latin typeface="Segoe UI"/>
                        </a:defRPr>
                      </a:pPr>
                      <a:r>
                        <a:rPr sz="950" b="1">
                          <a:solidFill>
                            <a:srgbClr val="FFFFFF"/>
                          </a:solidFill>
                          <a:latin typeface="Segoe UI"/>
                        </a:rPr>
                        <a:t>NAMES</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tx2"/>
                    </a:solidFill>
                  </a:tcPr>
                </a:tc>
                <a:tc>
                  <a:txBody>
                    <a:bodyPr/>
                    <a:lstStyle/>
                    <a:p>
                      <a:pPr>
                        <a:defRPr sz="950" b="1">
                          <a:solidFill>
                            <a:srgbClr val="FFFFFF"/>
                          </a:solidFill>
                          <a:latin typeface="Segoe UI"/>
                        </a:defRPr>
                      </a:pPr>
                      <a:r>
                        <a:rPr sz="950" b="1">
                          <a:solidFill>
                            <a:srgbClr val="FFFFFF"/>
                          </a:solidFill>
                          <a:latin typeface="Segoe UI"/>
                        </a:rPr>
                        <a:t>Branch</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tx2"/>
                    </a:solidFill>
                  </a:tcPr>
                </a:tc>
                <a:tc>
                  <a:txBody>
                    <a:bodyPr/>
                    <a:lstStyle/>
                    <a:p>
                      <a:pPr>
                        <a:defRPr sz="950" b="1">
                          <a:solidFill>
                            <a:srgbClr val="FFFFFF"/>
                          </a:solidFill>
                          <a:latin typeface="Segoe UI"/>
                        </a:defRPr>
                      </a:pPr>
                      <a:r>
                        <a:rPr sz="950" b="1">
                          <a:solidFill>
                            <a:srgbClr val="FFFFFF"/>
                          </a:solidFill>
                          <a:latin typeface="Segoe UI"/>
                        </a:rPr>
                        <a:t>SEM</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tx2"/>
                    </a:solidFill>
                  </a:tcPr>
                </a:tc>
                <a:tc>
                  <a:txBody>
                    <a:bodyPr/>
                    <a:lstStyle/>
                    <a:p>
                      <a:pPr>
                        <a:defRPr sz="950" b="1">
                          <a:solidFill>
                            <a:srgbClr val="FFFFFF"/>
                          </a:solidFill>
                          <a:latin typeface="Segoe UI"/>
                        </a:defRPr>
                      </a:pPr>
                      <a:r>
                        <a:rPr sz="950" b="1">
                          <a:solidFill>
                            <a:srgbClr val="FFFFFF"/>
                          </a:solidFill>
                          <a:latin typeface="Segoe UI"/>
                        </a:rPr>
                        <a:t>YEAR</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tx2"/>
                    </a:solidFill>
                  </a:tcPr>
                </a:tc>
                <a:tc>
                  <a:txBody>
                    <a:bodyPr/>
                    <a:lstStyle/>
                    <a:p>
                      <a:pPr>
                        <a:defRPr sz="950" b="1">
                          <a:solidFill>
                            <a:srgbClr val="FFFFFF"/>
                          </a:solidFill>
                          <a:latin typeface="Segoe UI"/>
                        </a:defRPr>
                      </a:pPr>
                      <a:r>
                        <a:rPr sz="950" b="1">
                          <a:solidFill>
                            <a:srgbClr val="FFFFFF"/>
                          </a:solidFill>
                          <a:latin typeface="Segoe UI"/>
                        </a:rPr>
                        <a:t>Number</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tx2"/>
                    </a:solidFill>
                  </a:tcPr>
                </a:tc>
              </a:tr>
              <a:tr h="576072">
                <a:tc>
                  <a:txBody>
                    <a:bodyPr/>
                    <a:lstStyle/>
                    <a:p>
                      <a:pPr>
                        <a:defRPr sz="900" b="1">
                          <a:solidFill>
                            <a:srgbClr val="1E293B"/>
                          </a:solidFill>
                          <a:latin typeface="Segoe UI"/>
                        </a:defRPr>
                      </a:pPr>
                      <a:r>
                        <a:rPr sz="900" b="1">
                          <a:solidFill>
                            <a:srgbClr val="1E293B"/>
                          </a:solidFill>
                          <a:latin typeface="Segoe UI"/>
                        </a:rPr>
                        <a:t>01</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Mohammed Safwan Khan</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Engineering (Information Science)</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3rd</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2nd year</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7676239342</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r>
              <a:tr h="576072">
                <a:tc>
                  <a:txBody>
                    <a:bodyPr/>
                    <a:lstStyle/>
                    <a:p>
                      <a:pPr>
                        <a:defRPr sz="900" b="1">
                          <a:solidFill>
                            <a:srgbClr val="1E293B"/>
                          </a:solidFill>
                          <a:latin typeface="Segoe UI"/>
                        </a:defRPr>
                      </a:pPr>
                      <a:r>
                        <a:rPr sz="900" b="1">
                          <a:solidFill>
                            <a:srgbClr val="1E293B"/>
                          </a:solidFill>
                          <a:latin typeface="Segoe UI"/>
                        </a:rPr>
                        <a:t>02</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a:defRPr sz="900" b="0">
                          <a:solidFill>
                            <a:srgbClr val="1E293B"/>
                          </a:solidFill>
                          <a:latin typeface="Segoe UI"/>
                        </a:defRPr>
                      </a:pPr>
                      <a:r>
                        <a:rPr sz="900" b="0">
                          <a:solidFill>
                            <a:srgbClr val="1E293B"/>
                          </a:solidFill>
                          <a:latin typeface="Segoe UI"/>
                        </a:rPr>
                        <a:t>Pavitra L S</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a:defRPr sz="900" b="0">
                          <a:solidFill>
                            <a:srgbClr val="1E293B"/>
                          </a:solidFill>
                          <a:latin typeface="Segoe UI"/>
                        </a:defRPr>
                      </a:pPr>
                      <a:r>
                        <a:rPr sz="900" b="0">
                          <a:solidFill>
                            <a:srgbClr val="1E293B"/>
                          </a:solidFill>
                          <a:latin typeface="Segoe UI"/>
                        </a:rPr>
                        <a:t>Engineering (Information Science)</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a:defRPr sz="900" b="0">
                          <a:solidFill>
                            <a:srgbClr val="1E293B"/>
                          </a:solidFill>
                          <a:latin typeface="Segoe UI"/>
                        </a:defRPr>
                      </a:pPr>
                      <a:r>
                        <a:rPr sz="900" b="0">
                          <a:solidFill>
                            <a:srgbClr val="1E293B"/>
                          </a:solidFill>
                          <a:latin typeface="Segoe UI"/>
                        </a:rPr>
                        <a:t>3rd</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a:defRPr sz="900" b="0">
                          <a:solidFill>
                            <a:srgbClr val="1E293B"/>
                          </a:solidFill>
                          <a:latin typeface="Segoe UI"/>
                        </a:defRPr>
                      </a:pPr>
                      <a:r>
                        <a:rPr sz="900" b="0">
                          <a:solidFill>
                            <a:srgbClr val="1E293B"/>
                          </a:solidFill>
                          <a:latin typeface="Segoe UI"/>
                        </a:rPr>
                        <a:t>2nd year</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a:defRPr sz="900" b="0">
                          <a:solidFill>
                            <a:srgbClr val="1E293B"/>
                          </a:solidFill>
                          <a:latin typeface="Segoe UI"/>
                        </a:defRPr>
                      </a:pPr>
                      <a:r>
                        <a:rPr sz="900" b="0">
                          <a:solidFill>
                            <a:srgbClr val="1E293B"/>
                          </a:solidFill>
                          <a:latin typeface="Segoe UI"/>
                        </a:rPr>
                        <a:t>6361441034</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r>
              <a:tr h="576072">
                <a:tc>
                  <a:txBody>
                    <a:bodyPr/>
                    <a:lstStyle/>
                    <a:p>
                      <a:pPr>
                        <a:defRPr sz="900" b="1">
                          <a:solidFill>
                            <a:srgbClr val="1E293B"/>
                          </a:solidFill>
                          <a:latin typeface="Segoe UI"/>
                        </a:defRPr>
                      </a:pPr>
                      <a:r>
                        <a:rPr sz="900" b="1">
                          <a:solidFill>
                            <a:srgbClr val="1E293B"/>
                          </a:solidFill>
                          <a:latin typeface="Segoe UI"/>
                        </a:rPr>
                        <a:t>03</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Prem T H</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BCA</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5th</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3rd year</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a:defRPr sz="900" b="0">
                          <a:solidFill>
                            <a:srgbClr val="1E293B"/>
                          </a:solidFill>
                          <a:latin typeface="Segoe UI"/>
                        </a:defRPr>
                      </a:pPr>
                      <a:r>
                        <a:rPr sz="900" b="0">
                          <a:solidFill>
                            <a:srgbClr val="1E293B"/>
                          </a:solidFill>
                          <a:latin typeface="Segoe UI"/>
                        </a:rPr>
                        <a:t>6366119447</a:t>
                      </a:r>
                    </a:p>
                  </a:txBody>
                  <a:tcPr marL="137160" marR="137160"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731520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03  —  SOLUTION</a:t>
            </a:r>
            <a:endParaRPr lang="en-US" sz="1100" dirty="0"/>
          </a:p>
        </p:txBody>
      </p:sp>
      <p:sp>
        <p:nvSpPr>
          <p:cNvPr id="3" name="Text 3"/>
          <p:cNvSpPr/>
          <p:nvPr>
            <p:ph idx="104" type="title" hasCustomPrompt="1"/>
          </p:nvPr>
        </p:nvSpPr>
        <p:spPr>
          <a:xfrm>
            <a:off x="548640" y="640080"/>
            <a:ext cx="10058400" cy="566928"/>
          </a:xfrm>
          <a:prstGeom prst="rect">
            <a:avLst/>
          </a:prstGeom>
          <a:noFill/>
          <a:ln/>
        </p:spPr>
        <p:txBody>
          <a:bodyPr wrap="square" lIns="0" tIns="0" rIns="0" bIns="0" rtlCol="0" anchor="ctr"/>
          <a:lstStyle/>
          <a:p>
            <a:pPr algn="l" indent="0" marL="0">
              <a:buNone/>
            </a:pPr>
            <a:r>
              <a:rPr lang="en-US" sz="3000" b="1" dirty="0">
                <a:solidFill>
                  <a:schemeClr val="tx2"/>
                </a:solidFill>
              </a:rPr>
              <a:t>Solution Overview</a:t>
            </a:r>
            <a:endParaRPr lang="en-US" sz="3000" dirty="0"/>
          </a:p>
        </p:txBody>
      </p:sp>
      <p:sp>
        <p:nvSpPr>
          <p:cNvPr id="5" name="card_Solution Summary_33"/>
          <p:cNvSpPr/>
          <p:nvPr/>
        </p:nvSpPr>
        <p:spPr>
          <a:xfrm>
            <a:off x="548640" y="1508760"/>
            <a:ext cx="6720840" cy="2514600"/>
          </a:xfrm>
          <a:prstGeom prst="rect">
            <a:avLst/>
          </a:prstGeom>
          <a:solidFill>
            <a:schemeClr val="bg2"/>
          </a:solidFill>
          <a:ln/>
        </p:spPr>
      </p:sp>
      <p:sp>
        <p:nvSpPr>
          <p:cNvPr id="6" name="marker_34"/>
          <p:cNvSpPr/>
          <p:nvPr/>
        </p:nvSpPr>
        <p:spPr>
          <a:xfrm>
            <a:off x="822960" y="1874520"/>
            <a:ext cx="91440" cy="91440"/>
          </a:xfrm>
          <a:prstGeom prst="rect">
            <a:avLst/>
          </a:prstGeom>
          <a:solidFill>
            <a:schemeClr val="accent2"/>
          </a:solidFill>
          <a:ln/>
        </p:spPr>
      </p:sp>
      <p:sp>
        <p:nvSpPr>
          <p:cNvPr id="7" name="label_35"/>
          <p:cNvSpPr txBox="1"/>
          <p:nvPr/>
        </p:nvSpPr>
        <p:spPr>
          <a:xfrm>
            <a:off x="1005840" y="1783080"/>
            <a:ext cx="5989320" cy="274320"/>
          </a:xfrm>
          <a:prstGeom prst="rect">
            <a:avLst/>
          </a:prstGeom>
          <a:noFill/>
          <a:ln/>
        </p:spPr>
        <p:txBody>
          <a:bodyPr wrap="square" lIns="0" tIns="0" rIns="0" bIns="0" rtlCol="0" anchor="ctr"/>
          <a:lstStyle/>
          <a:p>
            <a:pPr indent="0" marL="0">
              <a:buNone/>
            </a:pPr>
            <a:r>
              <a:rPr lang="en-US" sz="1400" b="1" dirty="0">
                <a:solidFill>
                  <a:schemeClr val="tx2"/>
                </a:solidFill>
              </a:rPr>
              <a:t>Solution Summary</a:t>
            </a:r>
            <a:endParaRPr lang="en-US" sz="1400" dirty="0"/>
          </a:p>
        </p:txBody>
      </p:sp>
      <p:sp>
        <p:nvSpPr>
          <p:cNvPr id="8" name="content_36"/>
          <p:cNvSpPr txBox="1"/>
          <p:nvPr/>
        </p:nvSpPr>
        <p:spPr>
          <a:xfrm>
            <a:off x="822960" y="2194560"/>
            <a:ext cx="6172200" cy="1554480"/>
          </a:xfrm>
          <a:prstGeom prst="rect">
            <a:avLst/>
          </a:prstGeom>
          <a:noFill/>
          <a:ln/>
        </p:spPr>
        <p:txBody>
          <a:bodyPr wrap="square" lIns="36576" tIns="36576" rIns="36576" bIns="36576" rtlCol="0" anchor="t"/>
          <a:lstStyle/>
          <a:p>
            <a:pPr indent="0" marL="0">
              <a:lnSpc>
                <a:spcPct val="110000"/>
              </a:lnSpc>
              <a:spcAft>
                <a:spcPts val="300"/>
              </a:spcAft>
              <a:buNone/>
              <a:defRPr sz="900" b="0">
                <a:solidFill>
                  <a:srgbClr val="1E293B"/>
                </a:solidFill>
                <a:latin typeface="Segoe UI"/>
              </a:defRPr>
            </a:pPr>
            <a:r>
              <a:rPr sz="900" b="0">
                <a:solidFill>
                  <a:srgbClr val="1E293B"/>
                </a:solidFill>
                <a:latin typeface="Segoe UI"/>
              </a:rPr>
              <a:t>BillLens is an autonomous decision-intelligence platform built for India's 63M+ Kiranas and MSMEs.</a:t>
            </a:r>
            <a:endParaRPr lang="en-US" sz="1600" dirty="0"/>
          </a:p>
          <a:p>
            <a:pPr>
              <a:lnSpc>
                <a:spcPct val="110000"/>
              </a:lnSpc>
              <a:spcAft>
                <a:spcPts val="300"/>
              </a:spcAft>
              <a:defRPr sz="900" b="0">
                <a:solidFill>
                  <a:srgbClr val="1E293B"/>
                </a:solidFill>
                <a:latin typeface="Segoe UI"/>
              </a:defRPr>
            </a:pPr>
          </a:p>
          <a:p>
            <a:pPr>
              <a:lnSpc>
                <a:spcPct val="110000"/>
              </a:lnSpc>
              <a:spcAft>
                <a:spcPts val="300"/>
              </a:spcAft>
              <a:defRPr sz="900" b="0">
                <a:solidFill>
                  <a:srgbClr val="1E293B"/>
                </a:solidFill>
                <a:latin typeface="Segoe UI"/>
              </a:defRPr>
            </a:pPr>
            <a:r>
              <a:rPr sz="900" b="0">
                <a:solidFill>
                  <a:srgbClr val="1E293B"/>
                </a:solidFill>
                <a:latin typeface="Segoe UI"/>
              </a:rPr>
              <a:t>Powered by AWS Step Functions, Amazon Aurora Serverless v2, and Amazon Textract, it ingests raw bills, detects stealth vendor price creep (+4.3%), forecasts cash-flow shortfalls 18 days before loan EMIs bounce, and dispatches automated SMS/WhatsApp alerts with verifiable loan readiness (DSCR 1.12x).</a:t>
            </a:r>
          </a:p>
        </p:txBody>
      </p:sp>
      <p:sp>
        <p:nvSpPr>
          <p:cNvPr id="9" name="marker_37"/>
          <p:cNvSpPr/>
          <p:nvPr/>
        </p:nvSpPr>
        <p:spPr>
          <a:xfrm>
            <a:off x="548640" y="4389120"/>
            <a:ext cx="91440" cy="91440"/>
          </a:xfrm>
          <a:prstGeom prst="rect">
            <a:avLst/>
          </a:prstGeom>
          <a:solidFill>
            <a:schemeClr val="accent2"/>
          </a:solidFill>
          <a:ln/>
        </p:spPr>
      </p:sp>
      <p:sp>
        <p:nvSpPr>
          <p:cNvPr id="10" name="label_38"/>
          <p:cNvSpPr txBox="1"/>
          <p:nvPr/>
        </p:nvSpPr>
        <p:spPr>
          <a:xfrm>
            <a:off x="731520" y="4297680"/>
            <a:ext cx="2743200" cy="274320"/>
          </a:xfrm>
          <a:prstGeom prst="rect">
            <a:avLst/>
          </a:prstGeom>
          <a:noFill/>
          <a:ln/>
        </p:spPr>
        <p:txBody>
          <a:bodyPr wrap="square" lIns="0" tIns="0" rIns="0" bIns="0" rtlCol="0" anchor="ctr"/>
          <a:lstStyle/>
          <a:p>
            <a:pPr indent="0" marL="0">
              <a:buNone/>
            </a:pPr>
            <a:r>
              <a:rPr lang="en-US" sz="1400" b="1" dirty="0">
                <a:solidFill>
                  <a:schemeClr val="tx2"/>
                </a:solidFill>
              </a:rPr>
              <a:t>Key Features</a:t>
            </a:r>
            <a:endParaRPr lang="en-US" sz="1400" dirty="0"/>
          </a:p>
        </p:txBody>
      </p:sp>
      <p:sp>
        <p:nvSpPr>
          <p:cNvPr id="11" name="feature_39"/>
          <p:cNvSpPr/>
          <p:nvPr/>
        </p:nvSpPr>
        <p:spPr>
          <a:xfrm>
            <a:off x="548640" y="4709160"/>
            <a:ext cx="2087880" cy="1371600"/>
          </a:xfrm>
          <a:prstGeom prst="rect">
            <a:avLst/>
          </a:prstGeom>
          <a:solidFill>
            <a:schemeClr val="bg1"/>
          </a:solidFill>
          <a:ln w="12700">
            <a:solidFill>
              <a:schemeClr val="accent5"/>
            </a:solidFill>
            <a:prstDash val="solid"/>
          </a:ln>
        </p:spPr>
      </p:sp>
      <p:sp>
        <p:nvSpPr>
          <p:cNvPr id="12" name="featnum_40"/>
          <p:cNvSpPr txBox="1"/>
          <p:nvPr/>
        </p:nvSpPr>
        <p:spPr>
          <a:xfrm>
            <a:off x="749808" y="4892040"/>
            <a:ext cx="548640" cy="292608"/>
          </a:xfrm>
          <a:prstGeom prst="rect">
            <a:avLst/>
          </a:prstGeom>
          <a:noFill/>
          <a:ln/>
        </p:spPr>
        <p:txBody>
          <a:bodyPr wrap="square" lIns="0" tIns="0" rIns="0" bIns="0" rtlCol="0" anchor="ctr"/>
          <a:lstStyle/>
          <a:p>
            <a:pPr indent="0" marL="0">
              <a:buNone/>
            </a:pPr>
            <a:r>
              <a:rPr lang="en-US" sz="1600" b="1" dirty="0">
                <a:solidFill>
                  <a:schemeClr val="accent1"/>
                </a:solidFill>
              </a:rPr>
              <a:t>01</a:t>
            </a:r>
            <a:endParaRPr lang="en-US" sz="1600" dirty="0"/>
          </a:p>
        </p:txBody>
      </p:sp>
      <p:sp>
        <p:nvSpPr>
          <p:cNvPr id="13" name="feattext_41"/>
          <p:cNvSpPr txBox="1"/>
          <p:nvPr/>
        </p:nvSpPr>
        <p:spPr>
          <a:xfrm>
            <a:off x="749808" y="5257800"/>
            <a:ext cx="1685544" cy="640080"/>
          </a:xfrm>
          <a:prstGeom prst="rect">
            <a:avLst/>
          </a:prstGeom>
          <a:noFill/>
          <a:ln/>
        </p:spPr>
        <p:txBody>
          <a:bodyPr wrap="square" lIns="36576" tIns="36576" rIns="36576" bIns="36576" rtlCol="0" anchor="t"/>
          <a:lstStyle/>
          <a:p>
            <a:pPr indent="0" marL="0">
              <a:lnSpc>
                <a:spcPct val="105000"/>
              </a:lnSpc>
              <a:spcAft>
                <a:spcPts val="0"/>
              </a:spcAft>
              <a:buNone/>
              <a:defRPr sz="800" b="0">
                <a:solidFill>
                  <a:srgbClr val="1E293B"/>
                </a:solidFill>
                <a:latin typeface="Segoe UI"/>
              </a:defRPr>
            </a:pPr>
            <a:r>
              <a:rPr sz="800" b="0">
                <a:solidFill>
                  <a:srgbClr val="1E293B"/>
                </a:solidFill>
                <a:latin typeface="Segoe UI"/>
              </a:rPr>
              <a:t>Amazon Textract OCR extracts line items into Aurora SQL, flagging vendor price creep and missed cash discounts.</a:t>
            </a:r>
            <a:endParaRPr lang="en-US" sz="1400" dirty="0"/>
          </a:p>
        </p:txBody>
      </p:sp>
      <p:sp>
        <p:nvSpPr>
          <p:cNvPr id="14" name="feature_42"/>
          <p:cNvSpPr/>
          <p:nvPr/>
        </p:nvSpPr>
        <p:spPr>
          <a:xfrm>
            <a:off x="2865120" y="4709160"/>
            <a:ext cx="2087880" cy="1371600"/>
          </a:xfrm>
          <a:prstGeom prst="rect">
            <a:avLst/>
          </a:prstGeom>
          <a:solidFill>
            <a:schemeClr val="bg1"/>
          </a:solidFill>
          <a:ln w="12700">
            <a:solidFill>
              <a:schemeClr val="accent5"/>
            </a:solidFill>
            <a:prstDash val="solid"/>
          </a:ln>
        </p:spPr>
      </p:sp>
      <p:sp>
        <p:nvSpPr>
          <p:cNvPr id="15" name="featnum_43"/>
          <p:cNvSpPr txBox="1"/>
          <p:nvPr/>
        </p:nvSpPr>
        <p:spPr>
          <a:xfrm>
            <a:off x="3066288" y="4892040"/>
            <a:ext cx="548640" cy="292608"/>
          </a:xfrm>
          <a:prstGeom prst="rect">
            <a:avLst/>
          </a:prstGeom>
          <a:noFill/>
          <a:ln/>
        </p:spPr>
        <p:txBody>
          <a:bodyPr wrap="square" lIns="0" tIns="0" rIns="0" bIns="0" rtlCol="0" anchor="ctr"/>
          <a:lstStyle/>
          <a:p>
            <a:pPr indent="0" marL="0">
              <a:buNone/>
            </a:pPr>
            <a:r>
              <a:rPr lang="en-US" sz="1600" b="1" dirty="0">
                <a:solidFill>
                  <a:schemeClr val="accent1"/>
                </a:solidFill>
              </a:rPr>
              <a:t>02</a:t>
            </a:r>
            <a:endParaRPr lang="en-US" sz="1600" dirty="0"/>
          </a:p>
        </p:txBody>
      </p:sp>
      <p:sp>
        <p:nvSpPr>
          <p:cNvPr id="16" name="feattext_44"/>
          <p:cNvSpPr txBox="1"/>
          <p:nvPr/>
        </p:nvSpPr>
        <p:spPr>
          <a:xfrm>
            <a:off x="3066288" y="5257800"/>
            <a:ext cx="1685544" cy="640080"/>
          </a:xfrm>
          <a:prstGeom prst="rect">
            <a:avLst/>
          </a:prstGeom>
          <a:noFill/>
          <a:ln/>
        </p:spPr>
        <p:txBody>
          <a:bodyPr wrap="square" lIns="36576" tIns="36576" rIns="36576" bIns="36576" rtlCol="0" anchor="t"/>
          <a:lstStyle/>
          <a:p>
            <a:pPr indent="0" marL="0">
              <a:lnSpc>
                <a:spcPct val="105000"/>
              </a:lnSpc>
              <a:spcAft>
                <a:spcPts val="0"/>
              </a:spcAft>
              <a:buNone/>
              <a:defRPr sz="800" b="0">
                <a:solidFill>
                  <a:srgbClr val="1E293B"/>
                </a:solidFill>
                <a:latin typeface="Segoe UI"/>
              </a:defRPr>
            </a:pPr>
            <a:r>
              <a:rPr sz="800" b="0">
                <a:solidFill>
                  <a:srgbClr val="1E293B"/>
                </a:solidFill>
                <a:latin typeface="Segoe UI"/>
              </a:rPr>
              <a:t>Simulates rolling 30-day cash flow, catching liquidity shortfalls 18 days before loan EMIs bounce (DSCR 1.12x).</a:t>
            </a:r>
            <a:endParaRPr lang="en-US" sz="1400" dirty="0"/>
          </a:p>
        </p:txBody>
      </p:sp>
      <p:sp>
        <p:nvSpPr>
          <p:cNvPr id="17" name="feature_45"/>
          <p:cNvSpPr/>
          <p:nvPr/>
        </p:nvSpPr>
        <p:spPr>
          <a:xfrm>
            <a:off x="5181600" y="4709160"/>
            <a:ext cx="2087880" cy="1371600"/>
          </a:xfrm>
          <a:prstGeom prst="rect">
            <a:avLst/>
          </a:prstGeom>
          <a:solidFill>
            <a:schemeClr val="bg1"/>
          </a:solidFill>
          <a:ln w="12700">
            <a:solidFill>
              <a:schemeClr val="accent5"/>
            </a:solidFill>
            <a:prstDash val="solid"/>
          </a:ln>
        </p:spPr>
      </p:sp>
      <p:sp>
        <p:nvSpPr>
          <p:cNvPr id="18" name="featnum_46"/>
          <p:cNvSpPr txBox="1"/>
          <p:nvPr/>
        </p:nvSpPr>
        <p:spPr>
          <a:xfrm>
            <a:off x="5382768" y="4892040"/>
            <a:ext cx="548640" cy="292608"/>
          </a:xfrm>
          <a:prstGeom prst="rect">
            <a:avLst/>
          </a:prstGeom>
          <a:noFill/>
          <a:ln/>
        </p:spPr>
        <p:txBody>
          <a:bodyPr wrap="square" lIns="0" tIns="0" rIns="0" bIns="0" rtlCol="0" anchor="ctr"/>
          <a:lstStyle/>
          <a:p>
            <a:pPr indent="0" marL="0">
              <a:buNone/>
            </a:pPr>
            <a:r>
              <a:rPr lang="en-US" sz="1600" b="1" dirty="0">
                <a:solidFill>
                  <a:schemeClr val="accent1"/>
                </a:solidFill>
              </a:rPr>
              <a:t>03</a:t>
            </a:r>
            <a:endParaRPr lang="en-US" sz="1600" dirty="0"/>
          </a:p>
        </p:txBody>
      </p:sp>
      <p:sp>
        <p:nvSpPr>
          <p:cNvPr id="19" name="feattext_47"/>
          <p:cNvSpPr txBox="1"/>
          <p:nvPr/>
        </p:nvSpPr>
        <p:spPr>
          <a:xfrm>
            <a:off x="5382768" y="5257800"/>
            <a:ext cx="1685544" cy="640080"/>
          </a:xfrm>
          <a:prstGeom prst="rect">
            <a:avLst/>
          </a:prstGeom>
          <a:noFill/>
          <a:ln/>
        </p:spPr>
        <p:txBody>
          <a:bodyPr wrap="square" lIns="36576" tIns="36576" rIns="36576" bIns="36576" rtlCol="0" anchor="t"/>
          <a:lstStyle/>
          <a:p>
            <a:pPr indent="0" marL="0">
              <a:lnSpc>
                <a:spcPct val="105000"/>
              </a:lnSpc>
              <a:spcAft>
                <a:spcPts val="0"/>
              </a:spcAft>
              <a:buNone/>
              <a:defRPr sz="800" b="0">
                <a:solidFill>
                  <a:srgbClr val="1E293B"/>
                </a:solidFill>
                <a:latin typeface="Segoe UI"/>
              </a:defRPr>
            </a:pPr>
            <a:r>
              <a:rPr sz="800" b="0">
                <a:solidFill>
                  <a:srgbClr val="1E293B"/>
                </a:solidFill>
                <a:latin typeface="Segoe UI"/>
              </a:rPr>
              <a:t>Automates Amazon SNS (SMS/WhatsApp alerts), ElevenLabs voice briefs, and Bangalore mandi rate arbitrage (Save ₹1,880/mo).</a:t>
            </a:r>
            <a:endParaRPr lang="en-US" sz="1400" dirty="0"/>
          </a:p>
        </p:txBody>
      </p:sp>
      <p:sp>
        <p:nvSpPr>
          <p:cNvPr id="20" name="card_Core Value Proposition_48"/>
          <p:cNvSpPr/>
          <p:nvPr/>
        </p:nvSpPr>
        <p:spPr>
          <a:xfrm>
            <a:off x="7498080" y="1508760"/>
            <a:ext cx="4144975" cy="2514600"/>
          </a:xfrm>
          <a:prstGeom prst="rect">
            <a:avLst/>
          </a:prstGeom>
          <a:solidFill>
            <a:schemeClr val="tx2"/>
          </a:solidFill>
          <a:ln/>
        </p:spPr>
      </p:sp>
      <p:sp>
        <p:nvSpPr>
          <p:cNvPr id="21" name="marker_49"/>
          <p:cNvSpPr/>
          <p:nvPr/>
        </p:nvSpPr>
        <p:spPr>
          <a:xfrm>
            <a:off x="7772400" y="1874520"/>
            <a:ext cx="91440" cy="91440"/>
          </a:xfrm>
          <a:prstGeom prst="rect">
            <a:avLst/>
          </a:prstGeom>
          <a:solidFill>
            <a:schemeClr val="accent2"/>
          </a:solidFill>
          <a:ln/>
        </p:spPr>
      </p:sp>
      <p:sp>
        <p:nvSpPr>
          <p:cNvPr id="22" name="label_50"/>
          <p:cNvSpPr txBox="1"/>
          <p:nvPr/>
        </p:nvSpPr>
        <p:spPr>
          <a:xfrm>
            <a:off x="7955280" y="1783080"/>
            <a:ext cx="3413455" cy="274320"/>
          </a:xfrm>
          <a:prstGeom prst="rect">
            <a:avLst/>
          </a:prstGeom>
          <a:noFill/>
          <a:ln/>
        </p:spPr>
        <p:txBody>
          <a:bodyPr wrap="square" lIns="0" tIns="0" rIns="0" bIns="0" rtlCol="0" anchor="ctr"/>
          <a:lstStyle/>
          <a:p>
            <a:pPr indent="0" marL="0">
              <a:buNone/>
            </a:pPr>
            <a:r>
              <a:rPr lang="en-US" sz="1400" b="1" dirty="0">
                <a:solidFill>
                  <a:schemeClr val="bg1"/>
                </a:solidFill>
              </a:rPr>
              <a:t>Core Value Proposition</a:t>
            </a:r>
            <a:endParaRPr lang="en-US" sz="1400" dirty="0"/>
          </a:p>
        </p:txBody>
      </p:sp>
      <p:sp>
        <p:nvSpPr>
          <p:cNvPr id="23" name="content_51"/>
          <p:cNvSpPr txBox="1"/>
          <p:nvPr/>
        </p:nvSpPr>
        <p:spPr>
          <a:xfrm>
            <a:off x="7772400" y="2194560"/>
            <a:ext cx="3596335" cy="1554480"/>
          </a:xfrm>
          <a:prstGeom prst="rect">
            <a:avLst/>
          </a:prstGeom>
          <a:noFill/>
          <a:ln/>
        </p:spPr>
        <p:txBody>
          <a:bodyPr wrap="square" lIns="36576" tIns="36576" rIns="36576" bIns="36576" rtlCol="0" anchor="t"/>
          <a:lstStyle/>
          <a:p>
            <a:pPr indent="0" marL="0">
              <a:lnSpc>
                <a:spcPct val="115000"/>
              </a:lnSpc>
              <a:spcAft>
                <a:spcPts val="0"/>
              </a:spcAft>
              <a:buNone/>
              <a:defRPr sz="950" b="0">
                <a:solidFill>
                  <a:srgbClr val="FFFFFF"/>
                </a:solidFill>
                <a:latin typeface="Segoe UI"/>
              </a:defRPr>
            </a:pPr>
            <a:r>
              <a:rPr sz="950" b="0">
                <a:solidFill>
                  <a:srgbClr val="FFFFFF"/>
                </a:solidFill>
                <a:latin typeface="Segoe UI"/>
              </a:rPr>
              <a:t>Equips small retail merchants with institutional treasury intelligence—preventing loan defaults 18 days in advance, recovering 4-6% gross margins via wholesale rate arbitrage, and creating tamper-evident cryptographic audit logs for instant formal credit.</a:t>
            </a:r>
            <a:endParaRPr lang="en-US" sz="1600" dirty="0"/>
          </a:p>
        </p:txBody>
      </p:sp>
      <p:sp>
        <p:nvSpPr>
          <p:cNvPr id="24" name="card_Target Users_52"/>
          <p:cNvSpPr/>
          <p:nvPr/>
        </p:nvSpPr>
        <p:spPr>
          <a:xfrm>
            <a:off x="7498080" y="4297680"/>
            <a:ext cx="4144975" cy="1783080"/>
          </a:xfrm>
          <a:prstGeom prst="rect">
            <a:avLst/>
          </a:prstGeom>
          <a:solidFill>
            <a:schemeClr val="bg2"/>
          </a:solidFill>
          <a:ln/>
        </p:spPr>
      </p:sp>
      <p:sp>
        <p:nvSpPr>
          <p:cNvPr id="25" name="marker_53"/>
          <p:cNvSpPr/>
          <p:nvPr/>
        </p:nvSpPr>
        <p:spPr>
          <a:xfrm>
            <a:off x="7772400" y="4663440"/>
            <a:ext cx="91440" cy="91440"/>
          </a:xfrm>
          <a:prstGeom prst="rect">
            <a:avLst/>
          </a:prstGeom>
          <a:solidFill>
            <a:schemeClr val="accent2"/>
          </a:solidFill>
          <a:ln/>
        </p:spPr>
      </p:sp>
      <p:sp>
        <p:nvSpPr>
          <p:cNvPr id="26" name="label_54"/>
          <p:cNvSpPr txBox="1"/>
          <p:nvPr/>
        </p:nvSpPr>
        <p:spPr>
          <a:xfrm>
            <a:off x="7955280" y="4572000"/>
            <a:ext cx="3413455" cy="274320"/>
          </a:xfrm>
          <a:prstGeom prst="rect">
            <a:avLst/>
          </a:prstGeom>
          <a:noFill/>
          <a:ln/>
        </p:spPr>
        <p:txBody>
          <a:bodyPr wrap="square" lIns="0" tIns="0" rIns="0" bIns="0" rtlCol="0" anchor="ctr"/>
          <a:lstStyle/>
          <a:p>
            <a:pPr indent="0" marL="0">
              <a:buNone/>
            </a:pPr>
            <a:r>
              <a:rPr lang="en-US" sz="1400" b="1" dirty="0">
                <a:solidFill>
                  <a:schemeClr val="tx2"/>
                </a:solidFill>
              </a:rPr>
              <a:t>Target Users</a:t>
            </a:r>
            <a:endParaRPr lang="en-US" sz="1400" dirty="0"/>
          </a:p>
        </p:txBody>
      </p:sp>
      <p:sp>
        <p:nvSpPr>
          <p:cNvPr id="27" name="content_55"/>
          <p:cNvSpPr txBox="1"/>
          <p:nvPr/>
        </p:nvSpPr>
        <p:spPr>
          <a:xfrm>
            <a:off x="7772400" y="4983480"/>
            <a:ext cx="3596335" cy="822960"/>
          </a:xfrm>
          <a:prstGeom prst="rect">
            <a:avLst/>
          </a:prstGeom>
          <a:noFill/>
          <a:ln/>
        </p:spPr>
        <p:txBody>
          <a:bodyPr wrap="square" lIns="36576" tIns="36576" rIns="36576" bIns="36576" rtlCol="0" anchor="t"/>
          <a:lstStyle/>
          <a:p>
            <a:pPr indent="0" marL="0">
              <a:lnSpc>
                <a:spcPct val="105000"/>
              </a:lnSpc>
              <a:spcAft>
                <a:spcPts val="200"/>
              </a:spcAft>
              <a:buNone/>
              <a:defRPr sz="850" b="0">
                <a:solidFill>
                  <a:srgbClr val="1E293B"/>
                </a:solidFill>
                <a:latin typeface="Segoe UI"/>
              </a:defRPr>
            </a:pPr>
            <a:r>
              <a:rPr sz="850" b="0">
                <a:solidFill>
                  <a:srgbClr val="1E293B"/>
                </a:solidFill>
                <a:latin typeface="Segoe UI"/>
              </a:rPr>
              <a:t>• Tier-2/Tier-3 Kirana Store Merchants &amp; Retailers</a:t>
            </a:r>
            <a:endParaRPr lang="en-US" sz="1400" dirty="0"/>
          </a:p>
          <a:p>
            <a:pPr>
              <a:lnSpc>
                <a:spcPct val="105000"/>
              </a:lnSpc>
              <a:spcAft>
                <a:spcPts val="200"/>
              </a:spcAft>
              <a:defRPr sz="850" b="0">
                <a:solidFill>
                  <a:srgbClr val="1E293B"/>
                </a:solidFill>
                <a:latin typeface="Segoe UI"/>
              </a:defRPr>
            </a:pPr>
            <a:r>
              <a:rPr sz="850" b="0">
                <a:solidFill>
                  <a:srgbClr val="1E293B"/>
                </a:solidFill>
                <a:latin typeface="Segoe UI"/>
              </a:rPr>
              <a:t>• FMCG Wholesalers &amp; Trade Credit Suppliers</a:t>
            </a:r>
          </a:p>
          <a:p>
            <a:pPr>
              <a:lnSpc>
                <a:spcPct val="105000"/>
              </a:lnSpc>
              <a:spcAft>
                <a:spcPts val="200"/>
              </a:spcAft>
              <a:defRPr sz="850" b="0">
                <a:solidFill>
                  <a:srgbClr val="1E293B"/>
                </a:solidFill>
                <a:latin typeface="Segoe UI"/>
              </a:defRPr>
            </a:pPr>
            <a:r>
              <a:rPr sz="850" b="0">
                <a:solidFill>
                  <a:srgbClr val="1E293B"/>
                </a:solidFill>
                <a:latin typeface="Segoe UI"/>
              </a:rPr>
              <a:t>• Commercial MSMEs with irregular receivables</a:t>
            </a:r>
          </a:p>
          <a:p>
            <a:pPr>
              <a:lnSpc>
                <a:spcPct val="105000"/>
              </a:lnSpc>
              <a:spcAft>
                <a:spcPts val="200"/>
              </a:spcAft>
              <a:defRPr sz="850" b="0">
                <a:solidFill>
                  <a:srgbClr val="1E293B"/>
                </a:solidFill>
                <a:latin typeface="Segoe UI"/>
              </a:defRPr>
            </a:pPr>
            <a:r>
              <a:rPr sz="850" b="0">
                <a:solidFill>
                  <a:srgbClr val="1E293B"/>
                </a:solidFill>
                <a:latin typeface="Segoe UI"/>
              </a:rPr>
              <a:t>• Banks, NBFCs &amp; Fintech Underwriters (TReDS)</a:t>
            </a:r>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731520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04  —  PROBLEM</a:t>
            </a:r>
            <a:endParaRPr lang="en-US" sz="1100" dirty="0"/>
          </a:p>
        </p:txBody>
      </p:sp>
      <p:sp>
        <p:nvSpPr>
          <p:cNvPr id="3" name="Text 3"/>
          <p:cNvSpPr/>
          <p:nvPr>
            <p:ph idx="104" type="title" hasCustomPrompt="1"/>
          </p:nvPr>
        </p:nvSpPr>
        <p:spPr>
          <a:xfrm>
            <a:off x="548640" y="640080"/>
            <a:ext cx="10058400" cy="566928"/>
          </a:xfrm>
          <a:prstGeom prst="rect">
            <a:avLst/>
          </a:prstGeom>
          <a:noFill/>
          <a:ln/>
        </p:spPr>
        <p:txBody>
          <a:bodyPr wrap="square" lIns="0" tIns="0" rIns="0" bIns="0" rtlCol="0" anchor="ctr"/>
          <a:lstStyle/>
          <a:p>
            <a:pPr algn="l" indent="0" marL="0">
              <a:buNone/>
            </a:pPr>
            <a:r>
              <a:rPr lang="en-US" sz="3000" b="1" dirty="0">
                <a:solidFill>
                  <a:schemeClr val="tx2"/>
                </a:solidFill>
              </a:rPr>
              <a:t>Problem Validation &amp; Approach</a:t>
            </a:r>
            <a:endParaRPr lang="en-US" sz="3000" dirty="0"/>
          </a:p>
        </p:txBody>
      </p:sp>
      <p:sp>
        <p:nvSpPr>
          <p:cNvPr id="5" name="zone_56"/>
          <p:cNvSpPr txBox="1"/>
          <p:nvPr/>
        </p:nvSpPr>
        <p:spPr>
          <a:xfrm>
            <a:off x="548640" y="1508760"/>
            <a:ext cx="5120640" cy="228600"/>
          </a:xfrm>
          <a:prstGeom prst="rect">
            <a:avLst/>
          </a:prstGeom>
          <a:noFill/>
          <a:ln/>
        </p:spPr>
        <p:txBody>
          <a:bodyPr wrap="square" lIns="0" tIns="0" rIns="0" bIns="0" rtlCol="0" anchor="ctr"/>
          <a:lstStyle/>
          <a:p>
            <a:pPr indent="0" marL="0">
              <a:buNone/>
            </a:pPr>
            <a:r>
              <a:rPr lang="en-US" sz="1000" b="1" spc="200" kern="0" dirty="0">
                <a:solidFill>
                  <a:schemeClr val="accent4"/>
                </a:solidFill>
              </a:rPr>
              <a:t>EXISTING GAP</a:t>
            </a:r>
            <a:endParaRPr lang="en-US" sz="1000" dirty="0"/>
          </a:p>
        </p:txBody>
      </p:sp>
      <p:sp>
        <p:nvSpPr>
          <p:cNvPr id="6" name="zone_57"/>
          <p:cNvSpPr txBox="1"/>
          <p:nvPr/>
        </p:nvSpPr>
        <p:spPr>
          <a:xfrm>
            <a:off x="6522415" y="1508760"/>
            <a:ext cx="512064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PROPOSED APPROACH</a:t>
            </a:r>
            <a:endParaRPr lang="en-US" sz="1000" dirty="0"/>
          </a:p>
        </p:txBody>
      </p:sp>
      <p:sp>
        <p:nvSpPr>
          <p:cNvPr id="7" name="card_Problem Context_58"/>
          <p:cNvSpPr/>
          <p:nvPr/>
        </p:nvSpPr>
        <p:spPr>
          <a:xfrm>
            <a:off x="548640" y="1874520"/>
            <a:ext cx="5120640" cy="2331720"/>
          </a:xfrm>
          <a:prstGeom prst="rect">
            <a:avLst/>
          </a:prstGeom>
          <a:solidFill>
            <a:schemeClr val="bg2"/>
          </a:solidFill>
          <a:ln/>
        </p:spPr>
      </p:sp>
      <p:sp>
        <p:nvSpPr>
          <p:cNvPr id="8" name="marker_59"/>
          <p:cNvSpPr/>
          <p:nvPr/>
        </p:nvSpPr>
        <p:spPr>
          <a:xfrm>
            <a:off x="822960" y="2240280"/>
            <a:ext cx="91440" cy="91440"/>
          </a:xfrm>
          <a:prstGeom prst="rect">
            <a:avLst/>
          </a:prstGeom>
          <a:solidFill>
            <a:schemeClr val="accent2"/>
          </a:solidFill>
          <a:ln/>
        </p:spPr>
      </p:sp>
      <p:sp>
        <p:nvSpPr>
          <p:cNvPr id="9" name="label_60"/>
          <p:cNvSpPr txBox="1"/>
          <p:nvPr/>
        </p:nvSpPr>
        <p:spPr>
          <a:xfrm>
            <a:off x="1005840" y="2148840"/>
            <a:ext cx="4389120" cy="274320"/>
          </a:xfrm>
          <a:prstGeom prst="rect">
            <a:avLst/>
          </a:prstGeom>
          <a:noFill/>
          <a:ln/>
        </p:spPr>
        <p:txBody>
          <a:bodyPr wrap="square" lIns="0" tIns="0" rIns="0" bIns="0" rtlCol="0" anchor="ctr"/>
          <a:lstStyle/>
          <a:p>
            <a:pPr indent="0" marL="0">
              <a:buNone/>
            </a:pPr>
            <a:r>
              <a:rPr lang="en-US" sz="1400" b="1" dirty="0">
                <a:solidFill>
                  <a:schemeClr val="tx2"/>
                </a:solidFill>
              </a:rPr>
              <a:t>Problem Context</a:t>
            </a:r>
            <a:endParaRPr lang="en-US" sz="1400" dirty="0"/>
          </a:p>
        </p:txBody>
      </p:sp>
      <p:sp>
        <p:nvSpPr>
          <p:cNvPr id="10" name="content_61"/>
          <p:cNvSpPr txBox="1"/>
          <p:nvPr/>
        </p:nvSpPr>
        <p:spPr>
          <a:xfrm>
            <a:off x="822960" y="2560320"/>
            <a:ext cx="4572000" cy="1371600"/>
          </a:xfrm>
          <a:prstGeom prst="rect">
            <a:avLst/>
          </a:prstGeom>
          <a:noFill/>
          <a:ln/>
        </p:spPr>
        <p:txBody>
          <a:bodyPr wrap="square" lIns="36576" tIns="36576" rIns="36576" bIns="36576" rtlCol="0" anchor="t"/>
          <a:lstStyle/>
          <a:p>
            <a:pPr indent="0" marL="0">
              <a:lnSpc>
                <a:spcPct val="110000"/>
              </a:lnSpc>
              <a:spcAft>
                <a:spcPts val="0"/>
              </a:spcAft>
              <a:buNone/>
              <a:defRPr sz="850" b="0">
                <a:solidFill>
                  <a:srgbClr val="1E293B"/>
                </a:solidFill>
                <a:latin typeface="Segoe UI"/>
              </a:defRPr>
            </a:pPr>
            <a:r>
              <a:rPr sz="850" b="0">
                <a:solidFill>
                  <a:srgbClr val="1E293B"/>
                </a:solidFill>
                <a:latin typeface="Segoe UI"/>
              </a:rPr>
              <a:t>MSMEs drive 30% of India's GDP, yet 72% face severe cash-flow distress despite profitable sales. Financial records remain fragmented across paper invoices, khata diaries, and UPI accounts. Merchants cannot detect vendor price inflation or foresee liquidity bottlenecks until bank loan EMIs bounce, triggering credit downgrade penalties.</a:t>
            </a:r>
            <a:endParaRPr lang="en-US" sz="1400" dirty="0"/>
          </a:p>
        </p:txBody>
      </p:sp>
      <p:sp>
        <p:nvSpPr>
          <p:cNvPr id="11" name="card_Current Limitations_62"/>
          <p:cNvSpPr/>
          <p:nvPr/>
        </p:nvSpPr>
        <p:spPr>
          <a:xfrm>
            <a:off x="548640" y="4434840"/>
            <a:ext cx="5120640" cy="1645920"/>
          </a:xfrm>
          <a:prstGeom prst="rect">
            <a:avLst/>
          </a:prstGeom>
          <a:solidFill>
            <a:schemeClr val="bg2"/>
          </a:solidFill>
          <a:ln/>
        </p:spPr>
      </p:sp>
      <p:sp>
        <p:nvSpPr>
          <p:cNvPr id="12" name="marker_63"/>
          <p:cNvSpPr/>
          <p:nvPr/>
        </p:nvSpPr>
        <p:spPr>
          <a:xfrm>
            <a:off x="822960" y="4800600"/>
            <a:ext cx="91440" cy="91440"/>
          </a:xfrm>
          <a:prstGeom prst="rect">
            <a:avLst/>
          </a:prstGeom>
          <a:solidFill>
            <a:schemeClr val="accent2"/>
          </a:solidFill>
          <a:ln/>
        </p:spPr>
      </p:sp>
      <p:sp>
        <p:nvSpPr>
          <p:cNvPr id="13" name="label_64"/>
          <p:cNvSpPr txBox="1"/>
          <p:nvPr/>
        </p:nvSpPr>
        <p:spPr>
          <a:xfrm>
            <a:off x="1005840" y="4709160"/>
            <a:ext cx="4389120" cy="274320"/>
          </a:xfrm>
          <a:prstGeom prst="rect">
            <a:avLst/>
          </a:prstGeom>
          <a:noFill/>
          <a:ln/>
        </p:spPr>
        <p:txBody>
          <a:bodyPr wrap="square" lIns="0" tIns="0" rIns="0" bIns="0" rtlCol="0" anchor="ctr"/>
          <a:lstStyle/>
          <a:p>
            <a:pPr indent="0" marL="0">
              <a:buNone/>
            </a:pPr>
            <a:r>
              <a:rPr lang="en-US" sz="1400" b="1" dirty="0">
                <a:solidFill>
                  <a:schemeClr val="tx2"/>
                </a:solidFill>
              </a:rPr>
              <a:t>Current Limitations</a:t>
            </a:r>
            <a:endParaRPr lang="en-US" sz="1400" dirty="0"/>
          </a:p>
        </p:txBody>
      </p:sp>
      <p:sp>
        <p:nvSpPr>
          <p:cNvPr id="14" name="content_65"/>
          <p:cNvSpPr txBox="1"/>
          <p:nvPr/>
        </p:nvSpPr>
        <p:spPr>
          <a:xfrm>
            <a:off x="822960" y="5120640"/>
            <a:ext cx="4572000" cy="685800"/>
          </a:xfrm>
          <a:prstGeom prst="rect">
            <a:avLst/>
          </a:prstGeom>
          <a:noFill/>
          <a:ln/>
        </p:spPr>
        <p:txBody>
          <a:bodyPr wrap="square" lIns="36576" tIns="36576" rIns="36576" bIns="36576" rtlCol="0" anchor="t"/>
          <a:lstStyle/>
          <a:p>
            <a:pPr indent="0" marL="0">
              <a:lnSpc>
                <a:spcPct val="105000"/>
              </a:lnSpc>
              <a:spcAft>
                <a:spcPts val="200"/>
              </a:spcAft>
              <a:buNone/>
              <a:defRPr sz="800" b="0">
                <a:solidFill>
                  <a:srgbClr val="1E293B"/>
                </a:solidFill>
                <a:latin typeface="Segoe UI"/>
              </a:defRPr>
            </a:pPr>
            <a:r>
              <a:rPr sz="800" b="0">
                <a:solidFill>
                  <a:srgbClr val="1E293B"/>
                </a:solidFill>
                <a:latin typeface="Segoe UI"/>
              </a:rPr>
              <a:t>• Invoice Blindness: Untracked creep (+4.3%) leaks ₹18k–₹45k/yr.</a:t>
            </a:r>
            <a:endParaRPr lang="en-US" sz="1400" dirty="0"/>
          </a:p>
          <a:p>
            <a:pPr>
              <a:lnSpc>
                <a:spcPct val="105000"/>
              </a:lnSpc>
              <a:spcAft>
                <a:spcPts val="200"/>
              </a:spcAft>
              <a:defRPr sz="800" b="0">
                <a:solidFill>
                  <a:srgbClr val="1E293B"/>
                </a:solidFill>
                <a:latin typeface="Segoe UI"/>
              </a:defRPr>
            </a:pPr>
            <a:r>
              <a:rPr sz="800" b="0">
                <a:solidFill>
                  <a:srgbClr val="1E293B"/>
                </a:solidFill>
                <a:latin typeface="Segoe UI"/>
              </a:rPr>
              <a:t>• Zero Forecasting: No visibility into Day-18 cash deficits.</a:t>
            </a:r>
          </a:p>
          <a:p>
            <a:pPr>
              <a:lnSpc>
                <a:spcPct val="105000"/>
              </a:lnSpc>
              <a:spcAft>
                <a:spcPts val="200"/>
              </a:spcAft>
              <a:defRPr sz="800" b="0">
                <a:solidFill>
                  <a:srgbClr val="1E293B"/>
                </a:solidFill>
                <a:latin typeface="Segoe UI"/>
              </a:defRPr>
            </a:pPr>
            <a:r>
              <a:rPr sz="800" b="0">
                <a:solidFill>
                  <a:srgbClr val="1E293B"/>
                </a:solidFill>
                <a:latin typeface="Segoe UI"/>
              </a:rPr>
              <a:t>• Debtor Lockup: Overdue credit (&gt;40% concentration) chokes cash.</a:t>
            </a:r>
          </a:p>
          <a:p>
            <a:pPr>
              <a:lnSpc>
                <a:spcPct val="105000"/>
              </a:lnSpc>
              <a:spcAft>
                <a:spcPts val="200"/>
              </a:spcAft>
              <a:defRPr sz="800" b="0">
                <a:solidFill>
                  <a:srgbClr val="1E293B"/>
                </a:solidFill>
                <a:latin typeface="Segoe UI"/>
              </a:defRPr>
            </a:pPr>
            <a:r>
              <a:rPr sz="800" b="0">
                <a:solidFill>
                  <a:srgbClr val="1E293B"/>
                </a:solidFill>
                <a:latin typeface="Segoe UI"/>
              </a:rPr>
              <a:t>• Credit Barrier: Banks reject 65% of loans lacking audit trails.</a:t>
            </a:r>
          </a:p>
        </p:txBody>
      </p:sp>
      <p:sp>
        <p:nvSpPr>
          <p:cNvPr id="15" name="arrow_circle_66"/>
          <p:cNvSpPr/>
          <p:nvPr/>
        </p:nvSpPr>
        <p:spPr>
          <a:xfrm>
            <a:off x="5812384" y="3694176"/>
            <a:ext cx="566928" cy="566928"/>
          </a:xfrm>
          <a:prstGeom prst="ellipse">
            <a:avLst/>
          </a:prstGeom>
          <a:solidFill>
            <a:schemeClr val="bg1"/>
          </a:solidFill>
          <a:ln w="15875">
            <a:solidFill>
              <a:schemeClr val="accent1"/>
            </a:solidFill>
            <a:prstDash val="solid"/>
          </a:ln>
        </p:spPr>
      </p:sp>
      <p:sp>
        <p:nvSpPr>
          <p:cNvPr id="16" name="arrow_67"/>
          <p:cNvSpPr/>
          <p:nvPr/>
        </p:nvSpPr>
        <p:spPr>
          <a:xfrm>
            <a:off x="5940400" y="3858768"/>
            <a:ext cx="310896" cy="237744"/>
          </a:xfrm>
          <a:prstGeom prst="rightArrow">
            <a:avLst/>
          </a:prstGeom>
          <a:solidFill>
            <a:schemeClr val="accent2"/>
          </a:solidFill>
          <a:ln/>
        </p:spPr>
      </p:sp>
      <p:sp>
        <p:nvSpPr>
          <p:cNvPr id="17" name="card_Proposed Approach_68"/>
          <p:cNvSpPr/>
          <p:nvPr/>
        </p:nvSpPr>
        <p:spPr>
          <a:xfrm>
            <a:off x="6522415" y="1874520"/>
            <a:ext cx="5120640" cy="4206240"/>
          </a:xfrm>
          <a:prstGeom prst="rect">
            <a:avLst/>
          </a:prstGeom>
          <a:solidFill>
            <a:schemeClr val="bg1"/>
          </a:solidFill>
          <a:ln w="15875">
            <a:solidFill>
              <a:schemeClr val="accent1"/>
            </a:solidFill>
            <a:prstDash val="solid"/>
          </a:ln>
        </p:spPr>
      </p:sp>
      <p:sp>
        <p:nvSpPr>
          <p:cNvPr id="18" name="marker_69"/>
          <p:cNvSpPr/>
          <p:nvPr/>
        </p:nvSpPr>
        <p:spPr>
          <a:xfrm>
            <a:off x="6796735" y="2240280"/>
            <a:ext cx="91440" cy="91440"/>
          </a:xfrm>
          <a:prstGeom prst="rect">
            <a:avLst/>
          </a:prstGeom>
          <a:solidFill>
            <a:schemeClr val="accent2"/>
          </a:solidFill>
          <a:ln/>
        </p:spPr>
      </p:sp>
      <p:sp>
        <p:nvSpPr>
          <p:cNvPr id="19" name="label_70"/>
          <p:cNvSpPr txBox="1"/>
          <p:nvPr/>
        </p:nvSpPr>
        <p:spPr>
          <a:xfrm>
            <a:off x="6979615" y="2148840"/>
            <a:ext cx="4389120" cy="274320"/>
          </a:xfrm>
          <a:prstGeom prst="rect">
            <a:avLst/>
          </a:prstGeom>
          <a:noFill/>
          <a:ln/>
        </p:spPr>
        <p:txBody>
          <a:bodyPr wrap="square" lIns="0" tIns="0" rIns="0" bIns="0" rtlCol="0" anchor="ctr"/>
          <a:lstStyle/>
          <a:p>
            <a:pPr indent="0" marL="0">
              <a:buNone/>
            </a:pPr>
            <a:r>
              <a:rPr lang="en-US" sz="1400" b="1" dirty="0">
                <a:solidFill>
                  <a:schemeClr val="tx2"/>
                </a:solidFill>
              </a:rPr>
              <a:t>Proposed Approach</a:t>
            </a:r>
            <a:endParaRPr lang="en-US" sz="1400" dirty="0"/>
          </a:p>
        </p:txBody>
      </p:sp>
      <p:sp>
        <p:nvSpPr>
          <p:cNvPr id="20" name="content_71"/>
          <p:cNvSpPr txBox="1"/>
          <p:nvPr/>
        </p:nvSpPr>
        <p:spPr>
          <a:xfrm>
            <a:off x="6796735" y="2560320"/>
            <a:ext cx="4572000" cy="3246120"/>
          </a:xfrm>
          <a:prstGeom prst="rect">
            <a:avLst/>
          </a:prstGeom>
          <a:noFill/>
          <a:ln/>
        </p:spPr>
        <p:txBody>
          <a:bodyPr wrap="square" lIns="36576" tIns="36576" rIns="36576" bIns="36576" rtlCol="0" anchor="t"/>
          <a:lstStyle/>
          <a:p>
            <a:pPr indent="0" marL="0">
              <a:lnSpc>
                <a:spcPct val="105000"/>
              </a:lnSpc>
              <a:spcAft>
                <a:spcPts val="200"/>
              </a:spcAft>
              <a:buNone/>
              <a:defRPr sz="800" b="0">
                <a:solidFill>
                  <a:srgbClr val="1E293B"/>
                </a:solidFill>
                <a:latin typeface="Segoe UI"/>
              </a:defRPr>
            </a:pPr>
            <a:r>
              <a:rPr sz="800" b="0">
                <a:solidFill>
                  <a:srgbClr val="1E293B"/>
                </a:solidFill>
                <a:latin typeface="Segoe UI"/>
              </a:rPr>
              <a:t>BillLens delivers an autonomous serverless decision intelligence platform:</a:t>
            </a:r>
            <a:endParaRPr lang="en-US" sz="1400" dirty="0"/>
          </a:p>
          <a:p>
            <a:pPr>
              <a:lnSpc>
                <a:spcPct val="105000"/>
              </a:lnSpc>
              <a:spcAft>
                <a:spcPts val="200"/>
              </a:spcAft>
              <a:defRPr sz="800" b="0">
                <a:solidFill>
                  <a:srgbClr val="1E293B"/>
                </a:solidFill>
                <a:latin typeface="Segoe UI"/>
              </a:defRPr>
            </a:pPr>
          </a:p>
          <a:p>
            <a:pPr>
              <a:lnSpc>
                <a:spcPct val="105000"/>
              </a:lnSpc>
              <a:spcAft>
                <a:spcPts val="200"/>
              </a:spcAft>
              <a:defRPr sz="800" b="0">
                <a:solidFill>
                  <a:srgbClr val="1E293B"/>
                </a:solidFill>
                <a:latin typeface="Segoe UI"/>
              </a:defRPr>
            </a:pPr>
            <a:r>
              <a:rPr sz="800" b="0">
                <a:solidFill>
                  <a:srgbClr val="1E293B"/>
                </a:solidFill>
                <a:latin typeface="Segoe UI"/>
              </a:rPr>
              <a:t>1. Serverless OCR &amp; Normalization: Amazon Textract + Lambda parses raw bills into normalized Aurora SQL tables, automatically tracking vendor price inflation.</a:t>
            </a:r>
          </a:p>
          <a:p>
            <a:pPr>
              <a:lnSpc>
                <a:spcPct val="105000"/>
              </a:lnSpc>
              <a:spcAft>
                <a:spcPts val="200"/>
              </a:spcAft>
              <a:defRPr sz="800" b="0">
                <a:solidFill>
                  <a:srgbClr val="1E293B"/>
                </a:solidFill>
                <a:latin typeface="Segoe UI"/>
              </a:defRPr>
            </a:pPr>
          </a:p>
          <a:p>
            <a:pPr>
              <a:lnSpc>
                <a:spcPct val="105000"/>
              </a:lnSpc>
              <a:spcAft>
                <a:spcPts val="200"/>
              </a:spcAft>
              <a:defRPr sz="800" b="0">
                <a:solidFill>
                  <a:srgbClr val="1E293B"/>
                </a:solidFill>
                <a:latin typeface="Segoe UI"/>
              </a:defRPr>
            </a:pPr>
            <a:r>
              <a:rPr sz="800" b="0">
                <a:solidFill>
                  <a:srgbClr val="1E293B"/>
                </a:solidFill>
                <a:latin typeface="Segoe UI"/>
              </a:rPr>
              <a:t>2. Autonomous 10-State Orchestration: AWS Step Functions executes dual parallel underwriting (GPT-4o + SQL runway) secured by ArmorIQ ECDSA cryptographic audit locks.</a:t>
            </a:r>
          </a:p>
          <a:p>
            <a:pPr>
              <a:lnSpc>
                <a:spcPct val="105000"/>
              </a:lnSpc>
              <a:spcAft>
                <a:spcPts val="200"/>
              </a:spcAft>
              <a:defRPr sz="800" b="0">
                <a:solidFill>
                  <a:srgbClr val="1E293B"/>
                </a:solidFill>
                <a:latin typeface="Segoe UI"/>
              </a:defRPr>
            </a:pPr>
          </a:p>
          <a:p>
            <a:pPr>
              <a:lnSpc>
                <a:spcPct val="105000"/>
              </a:lnSpc>
              <a:spcAft>
                <a:spcPts val="200"/>
              </a:spcAft>
              <a:defRPr sz="800" b="0">
                <a:solidFill>
                  <a:srgbClr val="1E293B"/>
                </a:solidFill>
                <a:latin typeface="Segoe UI"/>
              </a:defRPr>
            </a:pPr>
            <a:r>
              <a:rPr sz="800" b="0">
                <a:solidFill>
                  <a:srgbClr val="1E293B"/>
                </a:solidFill>
                <a:latin typeface="Segoe UI"/>
              </a:rPr>
              <a:t>3. Proactive Early Warning: Choice logic detects Day-18 deficit, triggering Amazon SNS alerts (SMS &amp; WhatsApp) and routing orders to cheaper Mandis (Save ₹1,880/mo).</a:t>
            </a:r>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731520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05  —  ARCHITECTURE</a:t>
            </a:r>
            <a:endParaRPr lang="en-US" sz="1100" dirty="0"/>
          </a:p>
        </p:txBody>
      </p:sp>
      <p:sp>
        <p:nvSpPr>
          <p:cNvPr id="3" name="Text 3"/>
          <p:cNvSpPr/>
          <p:nvPr>
            <p:ph idx="104" type="title" hasCustomPrompt="1"/>
          </p:nvPr>
        </p:nvSpPr>
        <p:spPr>
          <a:xfrm>
            <a:off x="548640" y="640080"/>
            <a:ext cx="10058400" cy="566928"/>
          </a:xfrm>
          <a:prstGeom prst="rect">
            <a:avLst/>
          </a:prstGeom>
          <a:noFill/>
          <a:ln/>
        </p:spPr>
        <p:txBody>
          <a:bodyPr wrap="square" lIns="0" tIns="0" rIns="0" bIns="0" rtlCol="0" anchor="ctr"/>
          <a:lstStyle/>
          <a:p>
            <a:pPr algn="l" indent="0" marL="0">
              <a:buNone/>
            </a:pPr>
            <a:r>
              <a:rPr lang="en-US" sz="3000" b="1" dirty="0">
                <a:solidFill>
                  <a:schemeClr val="tx2"/>
                </a:solidFill>
              </a:rPr>
              <a:t>Technical Architecture</a:t>
            </a:r>
            <a:endParaRPr lang="en-US" sz="3000" dirty="0"/>
          </a:p>
        </p:txBody>
      </p:sp>
      <p:sp>
        <p:nvSpPr>
          <p:cNvPr id="5" name="canvas_72"/>
          <p:cNvSpPr/>
          <p:nvPr/>
        </p:nvSpPr>
        <p:spPr>
          <a:xfrm>
            <a:off x="548640" y="1508760"/>
            <a:ext cx="11094415" cy="3291840"/>
          </a:xfrm>
          <a:prstGeom prst="rect">
            <a:avLst/>
          </a:prstGeom>
          <a:solidFill>
            <a:schemeClr val="bg1"/>
          </a:solidFill>
          <a:ln w="12700">
            <a:solidFill>
              <a:schemeClr val="accent5"/>
            </a:solidFill>
            <a:prstDash val="dash"/>
          </a:ln>
        </p:spPr>
      </p:sp>
      <p:sp>
        <p:nvSpPr>
          <p:cNvPr id="6" name="marker_73"/>
          <p:cNvSpPr/>
          <p:nvPr/>
        </p:nvSpPr>
        <p:spPr>
          <a:xfrm>
            <a:off x="777240" y="1783080"/>
            <a:ext cx="91440" cy="91440"/>
          </a:xfrm>
          <a:prstGeom prst="rect">
            <a:avLst/>
          </a:prstGeom>
          <a:solidFill>
            <a:schemeClr val="accent2"/>
          </a:solidFill>
          <a:ln/>
        </p:spPr>
      </p:sp>
      <p:sp>
        <p:nvSpPr>
          <p:cNvPr id="7" name="label_74"/>
          <p:cNvSpPr txBox="1"/>
          <p:nvPr/>
        </p:nvSpPr>
        <p:spPr>
          <a:xfrm>
            <a:off x="960120" y="1691640"/>
            <a:ext cx="3657600" cy="274320"/>
          </a:xfrm>
          <a:prstGeom prst="rect">
            <a:avLst/>
          </a:prstGeom>
          <a:noFill/>
          <a:ln/>
        </p:spPr>
        <p:txBody>
          <a:bodyPr wrap="square" lIns="0" tIns="0" rIns="0" bIns="0" rtlCol="0" anchor="ctr"/>
          <a:lstStyle/>
          <a:p>
            <a:pPr indent="0" marL="0">
              <a:buNone/>
            </a:pPr>
            <a:r>
              <a:rPr lang="en-US" sz="1400" b="1" dirty="0">
                <a:solidFill>
                  <a:schemeClr val="tx2"/>
                </a:solidFill>
              </a:rPr>
              <a:t>Architecture Diagram</a:t>
            </a:r>
            <a:endParaRPr lang="en-US" sz="1400" dirty="0"/>
          </a:p>
        </p:txBody>
      </p:sp>
      <p:sp>
        <p:nvSpPr>
          <p:cNvPr id="8" name="hint_75"/>
          <p:cNvSpPr txBox="1"/>
          <p:nvPr/>
        </p:nvSpPr>
        <p:spPr>
          <a:xfrm>
            <a:off x="5928055" y="1691640"/>
            <a:ext cx="5486400" cy="274320"/>
          </a:xfrm>
          <a:prstGeom prst="rect">
            <a:avLst/>
          </a:prstGeom>
          <a:noFill/>
          <a:ln/>
        </p:spPr>
        <p:txBody>
          <a:bodyPr wrap="square" lIns="36576" tIns="36576" rIns="36576" bIns="36576" rtlCol="0" anchor="ctr"/>
          <a:lstStyle/>
          <a:p>
            <a:pPr algn="r" indent="0" marL="0">
              <a:lnSpc>
                <a:spcPct val="110000"/>
              </a:lnSpc>
              <a:spcAft>
                <a:spcPts val="0"/>
              </a:spcAft>
              <a:buNone/>
              <a:defRPr sz="900" b="0">
                <a:solidFill>
                  <a:srgbClr val="64748B"/>
                </a:solidFill>
                <a:latin typeface="Segoe UI"/>
              </a:defRPr>
            </a:pPr>
            <a:r>
              <a:rPr sz="900" b="0">
                <a:solidFill>
                  <a:srgbClr val="64748B"/>
                </a:solidFill>
                <a:latin typeface="Segoe UI"/>
              </a:rPr>
              <a:t>End-to-End AWS Serverless State Machine with ArmorIQ Cryptographic Lock</a:t>
            </a:r>
            <a:endParaRPr lang="en-US" sz="1200" dirty="0"/>
          </a:p>
        </p:txBody>
      </p:sp>
      <p:sp>
        <p:nvSpPr>
          <p:cNvPr id="9" name="block_76"/>
          <p:cNvSpPr/>
          <p:nvPr/>
        </p:nvSpPr>
        <p:spPr>
          <a:xfrm>
            <a:off x="1280160" y="2240280"/>
            <a:ext cx="2377440" cy="868680"/>
          </a:xfrm>
          <a:prstGeom prst="roundRect">
            <a:avLst>
              <a:gd name="adj" fmla="val 6316"/>
            </a:avLst>
          </a:prstGeom>
          <a:solidFill>
            <a:schemeClr val="bg1"/>
          </a:solidFill>
          <a:ln w="12700">
            <a:solidFill>
              <a:schemeClr val="accent5"/>
            </a:solidFill>
          </a:ln>
        </p:spPr>
        <p:txBody>
          <a:bodyPr wrap="square" rtlCol="0" anchor="ctr" lIns="36576" rIns="36576" tIns="36576" bIns="36576"/>
          <a:lstStyle/>
          <a:p>
            <a:pPr algn="ctr" indent="0" marL="0">
              <a:lnSpc>
                <a:spcPct val="105000"/>
              </a:lnSpc>
              <a:spcAft>
                <a:spcPts val="100"/>
              </a:spcAft>
              <a:buNone/>
              <a:defRPr sz="800" b="0">
                <a:solidFill>
                  <a:srgbClr val="1E293B"/>
                </a:solidFill>
                <a:latin typeface="Segoe UI"/>
              </a:defRPr>
            </a:pPr>
            <a:r>
              <a:rPr sz="800" b="0">
                <a:solidFill>
                  <a:srgbClr val="1E293B"/>
                </a:solidFill>
                <a:latin typeface="Segoe UI"/>
              </a:rPr>
              <a:t>Amazon Textract &amp; S3</a:t>
            </a:r>
            <a:endParaRPr lang="en-US" sz="1300" dirty="0"/>
          </a:p>
          <a:p>
            <a:pPr>
              <a:lnSpc>
                <a:spcPct val="105000"/>
              </a:lnSpc>
              <a:spcAft>
                <a:spcPts val="100"/>
              </a:spcAft>
              <a:defRPr sz="800" b="0">
                <a:solidFill>
                  <a:srgbClr val="1E293B"/>
                </a:solidFill>
                <a:latin typeface="Segoe UI"/>
              </a:defRPr>
            </a:pPr>
            <a:r>
              <a:rPr sz="800" b="0">
                <a:solidFill>
                  <a:srgbClr val="1E293B"/>
                </a:solidFill>
                <a:latin typeface="Segoe UI"/>
              </a:rPr>
              <a:t>• S3 Raw Bill Bucket</a:t>
            </a:r>
          </a:p>
          <a:p>
            <a:pPr>
              <a:lnSpc>
                <a:spcPct val="105000"/>
              </a:lnSpc>
              <a:spcAft>
                <a:spcPts val="100"/>
              </a:spcAft>
              <a:defRPr sz="800" b="0">
                <a:solidFill>
                  <a:srgbClr val="1E293B"/>
                </a:solidFill>
                <a:latin typeface="Segoe UI"/>
              </a:defRPr>
            </a:pPr>
            <a:r>
              <a:rPr sz="800" b="0">
                <a:solidFill>
                  <a:srgbClr val="1E293B"/>
                </a:solidFill>
                <a:latin typeface="Segoe UI"/>
              </a:rPr>
              <a:t>• AI OCR Document Parser</a:t>
            </a:r>
          </a:p>
          <a:p>
            <a:pPr>
              <a:lnSpc>
                <a:spcPct val="105000"/>
              </a:lnSpc>
              <a:spcAft>
                <a:spcPts val="100"/>
              </a:spcAft>
              <a:defRPr sz="800" b="0">
                <a:solidFill>
                  <a:srgbClr val="1E293B"/>
                </a:solidFill>
                <a:latin typeface="Segoe UI"/>
              </a:defRPr>
            </a:pPr>
            <a:r>
              <a:rPr sz="800" b="0">
                <a:solidFill>
                  <a:srgbClr val="1E293B"/>
                </a:solidFill>
                <a:latin typeface="Segoe UI"/>
              </a:rPr>
              <a:t>• Line-Item Table Extraction</a:t>
            </a:r>
          </a:p>
        </p:txBody>
      </p:sp>
      <p:sp>
        <p:nvSpPr>
          <p:cNvPr id="10" name="block_77"/>
          <p:cNvSpPr/>
          <p:nvPr/>
        </p:nvSpPr>
        <p:spPr>
          <a:xfrm>
            <a:off x="1280160" y="3520440"/>
            <a:ext cx="2377440" cy="868680"/>
          </a:xfrm>
          <a:prstGeom prst="roundRect">
            <a:avLst>
              <a:gd name="adj" fmla="val 6316"/>
            </a:avLst>
          </a:prstGeom>
          <a:solidFill>
            <a:schemeClr val="bg1"/>
          </a:solidFill>
          <a:ln w="12700">
            <a:solidFill>
              <a:schemeClr val="accent5"/>
            </a:solidFill>
          </a:ln>
        </p:spPr>
        <p:txBody>
          <a:bodyPr wrap="square" rtlCol="0" anchor="ctr" lIns="36576" rIns="36576" tIns="36576" bIns="36576"/>
          <a:lstStyle/>
          <a:p>
            <a:pPr algn="ctr" indent="0" marL="0">
              <a:lnSpc>
                <a:spcPct val="105000"/>
              </a:lnSpc>
              <a:spcAft>
                <a:spcPts val="100"/>
              </a:spcAft>
              <a:buNone/>
              <a:defRPr sz="800" b="0">
                <a:solidFill>
                  <a:srgbClr val="1E293B"/>
                </a:solidFill>
                <a:latin typeface="Segoe UI"/>
              </a:defRPr>
            </a:pPr>
            <a:r>
              <a:rPr sz="800" b="0">
                <a:solidFill>
                  <a:srgbClr val="1E293B"/>
                </a:solidFill>
                <a:latin typeface="Segoe UI"/>
              </a:rPr>
              <a:t>Amazon Aurora Serverless v2</a:t>
            </a:r>
            <a:endParaRPr lang="en-US" sz="1300" dirty="0"/>
          </a:p>
          <a:p>
            <a:pPr>
              <a:lnSpc>
                <a:spcPct val="105000"/>
              </a:lnSpc>
              <a:spcAft>
                <a:spcPts val="100"/>
              </a:spcAft>
              <a:defRPr sz="800" b="0">
                <a:solidFill>
                  <a:srgbClr val="1E293B"/>
                </a:solidFill>
                <a:latin typeface="Segoe UI"/>
              </a:defRPr>
            </a:pPr>
            <a:r>
              <a:rPr sz="800" b="0">
                <a:solidFill>
                  <a:srgbClr val="1E293B"/>
                </a:solidFill>
                <a:latin typeface="Segoe UI"/>
              </a:rPr>
              <a:t>• PostgreSQL Relational Ledger</a:t>
            </a:r>
          </a:p>
          <a:p>
            <a:pPr>
              <a:lnSpc>
                <a:spcPct val="105000"/>
              </a:lnSpc>
              <a:spcAft>
                <a:spcPts val="100"/>
              </a:spcAft>
              <a:defRPr sz="800" b="0">
                <a:solidFill>
                  <a:srgbClr val="1E293B"/>
                </a:solidFill>
                <a:latin typeface="Segoe UI"/>
              </a:defRPr>
            </a:pPr>
            <a:r>
              <a:rPr sz="800" b="0">
                <a:solidFill>
                  <a:srgbClr val="1E293B"/>
                </a:solidFill>
                <a:latin typeface="Segoe UI"/>
              </a:rPr>
              <a:t>• Rolling Price Creep Index</a:t>
            </a:r>
          </a:p>
          <a:p>
            <a:pPr>
              <a:lnSpc>
                <a:spcPct val="105000"/>
              </a:lnSpc>
              <a:spcAft>
                <a:spcPts val="100"/>
              </a:spcAft>
              <a:defRPr sz="800" b="0">
                <a:solidFill>
                  <a:srgbClr val="1E293B"/>
                </a:solidFill>
                <a:latin typeface="Segoe UI"/>
              </a:defRPr>
            </a:pPr>
            <a:r>
              <a:rPr sz="800" b="0">
                <a:solidFill>
                  <a:srgbClr val="1E293B"/>
                </a:solidFill>
                <a:latin typeface="Segoe UI"/>
              </a:rPr>
              <a:t>• Double-Entry Journal Audit</a:t>
            </a:r>
          </a:p>
        </p:txBody>
      </p:sp>
      <p:sp>
        <p:nvSpPr>
          <p:cNvPr id="11" name="block_78"/>
          <p:cNvSpPr/>
          <p:nvPr/>
        </p:nvSpPr>
        <p:spPr>
          <a:xfrm>
            <a:off x="4907128" y="2240280"/>
            <a:ext cx="2377440" cy="2148840"/>
          </a:xfrm>
          <a:prstGeom prst="roundRect">
            <a:avLst>
              <a:gd name="adj" fmla="val 2553"/>
            </a:avLst>
          </a:prstGeom>
          <a:solidFill>
            <a:schemeClr val="bg2"/>
          </a:solidFill>
          <a:ln w="19050">
            <a:solidFill>
              <a:schemeClr val="accent1"/>
            </a:solidFill>
          </a:ln>
        </p:spPr>
        <p:txBody>
          <a:bodyPr wrap="square" rtlCol="0" anchor="ctr" lIns="36576" rIns="36576" tIns="36576" bIns="36576"/>
          <a:lstStyle/>
          <a:p>
            <a:pPr algn="ctr" indent="0" marL="0">
              <a:lnSpc>
                <a:spcPct val="102000"/>
              </a:lnSpc>
              <a:spcAft>
                <a:spcPts val="100"/>
              </a:spcAft>
              <a:buNone/>
              <a:defRPr sz="750" b="0">
                <a:solidFill>
                  <a:srgbClr val="1E293B"/>
                </a:solidFill>
                <a:latin typeface="Segoe UI"/>
              </a:defRPr>
            </a:pPr>
            <a:r>
              <a:rPr sz="750" b="0">
                <a:solidFill>
                  <a:srgbClr val="1E293B"/>
                </a:solidFill>
                <a:latin typeface="Segoe UI"/>
              </a:rPr>
              <a:t>AWS Step Functions Orchestrator</a:t>
            </a:r>
            <a:endParaRPr lang="en-US" sz="1300" dirty="0"/>
          </a:p>
          <a:p>
            <a:pPr>
              <a:lnSpc>
                <a:spcPct val="102000"/>
              </a:lnSpc>
              <a:spcAft>
                <a:spcPts val="100"/>
              </a:spcAft>
              <a:defRPr sz="750" b="0">
                <a:solidFill>
                  <a:srgbClr val="1E293B"/>
                </a:solidFill>
                <a:latin typeface="Segoe UI"/>
              </a:defRPr>
            </a:pPr>
            <a:r>
              <a:rPr sz="750" b="0">
                <a:solidFill>
                  <a:srgbClr val="1E293B"/>
                </a:solidFill>
                <a:latin typeface="Segoe UI"/>
              </a:rPr>
              <a:t>(10-State ASL State Machine Engine)</a:t>
            </a:r>
          </a:p>
          <a:p>
            <a:pPr>
              <a:lnSpc>
                <a:spcPct val="102000"/>
              </a:lnSpc>
              <a:spcAft>
                <a:spcPts val="100"/>
              </a:spcAft>
              <a:defRPr sz="750" b="0">
                <a:solidFill>
                  <a:srgbClr val="1E293B"/>
                </a:solidFill>
                <a:latin typeface="Segoe UI"/>
              </a:defRPr>
            </a:pPr>
          </a:p>
          <a:p>
            <a:pPr>
              <a:lnSpc>
                <a:spcPct val="102000"/>
              </a:lnSpc>
              <a:spcAft>
                <a:spcPts val="100"/>
              </a:spcAft>
              <a:defRPr sz="750" b="0">
                <a:solidFill>
                  <a:srgbClr val="1E293B"/>
                </a:solidFill>
                <a:latin typeface="Segoe UI"/>
              </a:defRPr>
            </a:pPr>
            <a:r>
              <a:rPr sz="750" b="0">
                <a:solidFill>
                  <a:srgbClr val="1E293B"/>
                </a:solidFill>
                <a:latin typeface="Segoe UI"/>
              </a:rPr>
              <a:t>• S1: Ingest &amp; Line-Item OCR (Lambda)</a:t>
            </a:r>
          </a:p>
          <a:p>
            <a:pPr>
              <a:lnSpc>
                <a:spcPct val="102000"/>
              </a:lnSpc>
              <a:spcAft>
                <a:spcPts val="100"/>
              </a:spcAft>
              <a:defRPr sz="750" b="0">
                <a:solidFill>
                  <a:srgbClr val="1E293B"/>
                </a:solidFill>
                <a:latin typeface="Segoe UI"/>
              </a:defRPr>
            </a:pPr>
            <a:r>
              <a:rPr sz="750" b="0">
                <a:solidFill>
                  <a:srgbClr val="1E293B"/>
                </a:solidFill>
                <a:latin typeface="Segoe UI"/>
              </a:rPr>
              <a:t>• S2: ArmorIQ ECDSA Zero-Tamper Lock</a:t>
            </a:r>
          </a:p>
          <a:p>
            <a:pPr>
              <a:lnSpc>
                <a:spcPct val="102000"/>
              </a:lnSpc>
              <a:spcAft>
                <a:spcPts val="100"/>
              </a:spcAft>
              <a:defRPr sz="750" b="0">
                <a:solidFill>
                  <a:srgbClr val="1E293B"/>
                </a:solidFill>
                <a:latin typeface="Segoe UI"/>
              </a:defRPr>
            </a:pPr>
            <a:r>
              <a:rPr sz="750" b="0">
                <a:solidFill>
                  <a:srgbClr val="1E293B"/>
                </a:solidFill>
                <a:latin typeface="Segoe UI"/>
              </a:rPr>
              <a:t>• S3: Dual Parallel Underwriting:</a:t>
            </a:r>
          </a:p>
          <a:p>
            <a:pPr>
              <a:lnSpc>
                <a:spcPct val="102000"/>
              </a:lnSpc>
              <a:spcAft>
                <a:spcPts val="100"/>
              </a:spcAft>
              <a:defRPr sz="750" b="0">
                <a:solidFill>
                  <a:srgbClr val="1E293B"/>
                </a:solidFill>
                <a:latin typeface="Segoe UI"/>
              </a:defRPr>
            </a:pPr>
            <a:r>
              <a:rPr sz="750" b="0">
                <a:solidFill>
                  <a:srgbClr val="1E293B"/>
                </a:solidFill>
                <a:latin typeface="Segoe UI"/>
              </a:rPr>
              <a:t>    ├─ Branch A: GPT-4o AI Risk Underwriter</a:t>
            </a:r>
          </a:p>
          <a:p>
            <a:pPr>
              <a:lnSpc>
                <a:spcPct val="102000"/>
              </a:lnSpc>
              <a:spcAft>
                <a:spcPts val="100"/>
              </a:spcAft>
              <a:defRPr sz="750" b="0">
                <a:solidFill>
                  <a:srgbClr val="1E293B"/>
                </a:solidFill>
                <a:latin typeface="Segoe UI"/>
              </a:defRPr>
            </a:pPr>
            <a:r>
              <a:rPr sz="750" b="0">
                <a:solidFill>
                  <a:srgbClr val="1E293B"/>
                </a:solidFill>
                <a:latin typeface="Segoe UI"/>
              </a:rPr>
              <a:t>    └─ Branch B: Aurora SQL Cash Runway</a:t>
            </a:r>
          </a:p>
          <a:p>
            <a:pPr>
              <a:lnSpc>
                <a:spcPct val="102000"/>
              </a:lnSpc>
              <a:spcAft>
                <a:spcPts val="100"/>
              </a:spcAft>
              <a:defRPr sz="750" b="0">
                <a:solidFill>
                  <a:srgbClr val="1E293B"/>
                </a:solidFill>
                <a:latin typeface="Segoe UI"/>
              </a:defRPr>
            </a:pPr>
            <a:r>
              <a:rPr sz="750" b="0">
                <a:solidFill>
                  <a:srgbClr val="1E293B"/>
                </a:solidFill>
                <a:latin typeface="Segoe UI"/>
              </a:rPr>
              <a:t>• S4: Choice: Day-18 Liquidity Evaluator</a:t>
            </a:r>
          </a:p>
          <a:p>
            <a:pPr>
              <a:lnSpc>
                <a:spcPct val="102000"/>
              </a:lnSpc>
              <a:spcAft>
                <a:spcPts val="100"/>
              </a:spcAft>
              <a:defRPr sz="750" b="0">
                <a:solidFill>
                  <a:srgbClr val="1E293B"/>
                </a:solidFill>
                <a:latin typeface="Segoe UI"/>
              </a:defRPr>
            </a:pPr>
            <a:r>
              <a:rPr sz="750" b="0">
                <a:solidFill>
                  <a:srgbClr val="1E293B"/>
                </a:solidFill>
                <a:latin typeface="Segoe UI"/>
              </a:rPr>
              <a:t>• S5: Amazon SNS Emergency Dispatch</a:t>
            </a:r>
          </a:p>
          <a:p>
            <a:pPr>
              <a:lnSpc>
                <a:spcPct val="102000"/>
              </a:lnSpc>
              <a:spcAft>
                <a:spcPts val="100"/>
              </a:spcAft>
              <a:defRPr sz="750" b="0">
                <a:solidFill>
                  <a:srgbClr val="1E293B"/>
                </a:solidFill>
                <a:latin typeface="Segoe UI"/>
              </a:defRPr>
            </a:pPr>
            <a:r>
              <a:rPr sz="750" b="0">
                <a:solidFill>
                  <a:srgbClr val="1E293B"/>
                </a:solidFill>
                <a:latin typeface="Segoe UI"/>
              </a:rPr>
              <a:t>• S6: ElevenLabs Multilingual Voice Audio</a:t>
            </a:r>
          </a:p>
          <a:p>
            <a:pPr>
              <a:lnSpc>
                <a:spcPct val="102000"/>
              </a:lnSpc>
              <a:spcAft>
                <a:spcPts val="100"/>
              </a:spcAft>
              <a:defRPr sz="750" b="0">
                <a:solidFill>
                  <a:srgbClr val="1E293B"/>
                </a:solidFill>
                <a:latin typeface="Segoe UI"/>
              </a:defRPr>
            </a:pPr>
            <a:r>
              <a:rPr sz="750" b="0">
                <a:solidFill>
                  <a:srgbClr val="1E293B"/>
                </a:solidFill>
                <a:latin typeface="Segoe UI"/>
              </a:rPr>
              <a:t>• S7: Atomic Audit Ledger in Aurora SQL</a:t>
            </a:r>
          </a:p>
          <a:p>
            <a:pPr>
              <a:lnSpc>
                <a:spcPct val="102000"/>
              </a:lnSpc>
              <a:spcAft>
                <a:spcPts val="100"/>
              </a:spcAft>
              <a:defRPr sz="750" b="0">
                <a:solidFill>
                  <a:srgbClr val="1E293B"/>
                </a:solidFill>
                <a:latin typeface="Segoe UI"/>
              </a:defRPr>
            </a:pPr>
            <a:r>
              <a:rPr sz="750" b="0">
                <a:solidFill>
                  <a:srgbClr val="1E293B"/>
                </a:solidFill>
                <a:latin typeface="Segoe UI"/>
              </a:rPr>
              <a:t>• S8: Succeed (Workflow Complete)</a:t>
            </a:r>
          </a:p>
        </p:txBody>
      </p:sp>
      <p:sp>
        <p:nvSpPr>
          <p:cNvPr id="12" name="block_79"/>
          <p:cNvSpPr/>
          <p:nvPr/>
        </p:nvSpPr>
        <p:spPr>
          <a:xfrm>
            <a:off x="8534095" y="2240280"/>
            <a:ext cx="2377440" cy="868680"/>
          </a:xfrm>
          <a:prstGeom prst="roundRect">
            <a:avLst>
              <a:gd name="adj" fmla="val 6316"/>
            </a:avLst>
          </a:prstGeom>
          <a:solidFill>
            <a:schemeClr val="bg1"/>
          </a:solidFill>
          <a:ln w="12700">
            <a:solidFill>
              <a:schemeClr val="accent5"/>
            </a:solidFill>
          </a:ln>
        </p:spPr>
        <p:txBody>
          <a:bodyPr wrap="square" rtlCol="0" anchor="ctr" lIns="36576" rIns="36576" tIns="36576" bIns="36576"/>
          <a:lstStyle/>
          <a:p>
            <a:pPr algn="ctr" indent="0" marL="0">
              <a:lnSpc>
                <a:spcPct val="105000"/>
              </a:lnSpc>
              <a:spcAft>
                <a:spcPts val="100"/>
              </a:spcAft>
              <a:buNone/>
              <a:defRPr sz="800" b="0">
                <a:solidFill>
                  <a:srgbClr val="1E293B"/>
                </a:solidFill>
                <a:latin typeface="Segoe UI"/>
              </a:defRPr>
            </a:pPr>
            <a:r>
              <a:rPr sz="800" b="0">
                <a:solidFill>
                  <a:srgbClr val="1E293B"/>
                </a:solidFill>
                <a:latin typeface="Segoe UI"/>
              </a:rPr>
              <a:t>Amazon SNS</a:t>
            </a:r>
            <a:endParaRPr lang="en-US" sz="1300" dirty="0"/>
          </a:p>
          <a:p>
            <a:pPr>
              <a:lnSpc>
                <a:spcPct val="105000"/>
              </a:lnSpc>
              <a:spcAft>
                <a:spcPts val="100"/>
              </a:spcAft>
              <a:defRPr sz="800" b="0">
                <a:solidFill>
                  <a:srgbClr val="1E293B"/>
                </a:solidFill>
                <a:latin typeface="Segoe UI"/>
              </a:defRPr>
            </a:pPr>
            <a:r>
              <a:rPr sz="800" b="0">
                <a:solidFill>
                  <a:srgbClr val="1E293B"/>
                </a:solidFill>
                <a:latin typeface="Segoe UI"/>
              </a:rPr>
              <a:t>(Simple Notification Service)</a:t>
            </a:r>
          </a:p>
          <a:p>
            <a:pPr>
              <a:lnSpc>
                <a:spcPct val="105000"/>
              </a:lnSpc>
              <a:spcAft>
                <a:spcPts val="100"/>
              </a:spcAft>
              <a:defRPr sz="800" b="0">
                <a:solidFill>
                  <a:srgbClr val="1E293B"/>
                </a:solidFill>
                <a:latin typeface="Segoe UI"/>
              </a:defRPr>
            </a:pPr>
            <a:r>
              <a:rPr sz="800" b="0">
                <a:solidFill>
                  <a:srgbClr val="1E293B"/>
                </a:solidFill>
                <a:latin typeface="Segoe UI"/>
              </a:rPr>
              <a:t>• Multi-Channel Alert Engine</a:t>
            </a:r>
          </a:p>
          <a:p>
            <a:pPr>
              <a:lnSpc>
                <a:spcPct val="105000"/>
              </a:lnSpc>
              <a:spcAft>
                <a:spcPts val="100"/>
              </a:spcAft>
              <a:defRPr sz="800" b="0">
                <a:solidFill>
                  <a:srgbClr val="1E293B"/>
                </a:solidFill>
                <a:latin typeface="Segoe UI"/>
              </a:defRPr>
            </a:pPr>
            <a:r>
              <a:rPr sz="800" b="0">
                <a:solidFill>
                  <a:srgbClr val="1E293B"/>
                </a:solidFill>
                <a:latin typeface="Segoe UI"/>
              </a:rPr>
              <a:t>• High-Priority SMS Dispatch</a:t>
            </a:r>
          </a:p>
          <a:p>
            <a:pPr>
              <a:lnSpc>
                <a:spcPct val="105000"/>
              </a:lnSpc>
              <a:spcAft>
                <a:spcPts val="100"/>
              </a:spcAft>
              <a:defRPr sz="800" b="0">
                <a:solidFill>
                  <a:srgbClr val="1E293B"/>
                </a:solidFill>
                <a:latin typeface="Segoe UI"/>
              </a:defRPr>
            </a:pPr>
            <a:r>
              <a:rPr sz="800" b="0">
                <a:solidFill>
                  <a:srgbClr val="1E293B"/>
                </a:solidFill>
                <a:latin typeface="Segoe UI"/>
              </a:rPr>
              <a:t>• WhatsApp Business API Alert</a:t>
            </a:r>
          </a:p>
        </p:txBody>
      </p:sp>
      <p:sp>
        <p:nvSpPr>
          <p:cNvPr id="13" name="block_80"/>
          <p:cNvSpPr/>
          <p:nvPr/>
        </p:nvSpPr>
        <p:spPr>
          <a:xfrm>
            <a:off x="8534095" y="3520440"/>
            <a:ext cx="2377440" cy="868680"/>
          </a:xfrm>
          <a:prstGeom prst="roundRect">
            <a:avLst>
              <a:gd name="adj" fmla="val 6316"/>
            </a:avLst>
          </a:prstGeom>
          <a:solidFill>
            <a:schemeClr val="bg1"/>
          </a:solidFill>
          <a:ln w="12700">
            <a:solidFill>
              <a:schemeClr val="accent5"/>
            </a:solidFill>
          </a:ln>
        </p:spPr>
        <p:txBody>
          <a:bodyPr wrap="square" rtlCol="0" anchor="ctr" lIns="36576" rIns="36576" tIns="36576" bIns="36576"/>
          <a:lstStyle/>
          <a:p>
            <a:pPr algn="ctr" indent="0" marL="0">
              <a:lnSpc>
                <a:spcPct val="105000"/>
              </a:lnSpc>
              <a:spcAft>
                <a:spcPts val="100"/>
              </a:spcAft>
              <a:buNone/>
              <a:defRPr sz="800" b="0">
                <a:solidFill>
                  <a:srgbClr val="1E293B"/>
                </a:solidFill>
                <a:latin typeface="Segoe UI"/>
              </a:defRPr>
            </a:pPr>
            <a:r>
              <a:rPr sz="800" b="0">
                <a:solidFill>
                  <a:srgbClr val="1E293B"/>
                </a:solidFill>
                <a:latin typeface="Segoe UI"/>
              </a:rPr>
              <a:t>Paytm &amp; ElevenLabs AI</a:t>
            </a:r>
            <a:endParaRPr lang="en-US" sz="1300" dirty="0"/>
          </a:p>
          <a:p>
            <a:pPr>
              <a:lnSpc>
                <a:spcPct val="105000"/>
              </a:lnSpc>
              <a:spcAft>
                <a:spcPts val="100"/>
              </a:spcAft>
              <a:defRPr sz="800" b="0">
                <a:solidFill>
                  <a:srgbClr val="1E293B"/>
                </a:solidFill>
                <a:latin typeface="Segoe UI"/>
              </a:defRPr>
            </a:pPr>
            <a:r>
              <a:rPr sz="800" b="0">
                <a:solidFill>
                  <a:srgbClr val="1E293B"/>
                </a:solidFill>
                <a:latin typeface="Segoe UI"/>
              </a:rPr>
              <a:t>• Real-Time UPI Soundbox Audio</a:t>
            </a:r>
          </a:p>
          <a:p>
            <a:pPr>
              <a:lnSpc>
                <a:spcPct val="105000"/>
              </a:lnSpc>
              <a:spcAft>
                <a:spcPts val="100"/>
              </a:spcAft>
              <a:defRPr sz="800" b="0">
                <a:solidFill>
                  <a:srgbClr val="1E293B"/>
                </a:solidFill>
                <a:latin typeface="Segoe UI"/>
              </a:defRPr>
            </a:pPr>
            <a:r>
              <a:rPr sz="800" b="0">
                <a:solidFill>
                  <a:srgbClr val="1E293B"/>
                </a:solidFill>
                <a:latin typeface="Segoe UI"/>
              </a:rPr>
              <a:t>• Kannada &amp; Hindi Voice Briefs</a:t>
            </a:r>
          </a:p>
          <a:p>
            <a:pPr>
              <a:lnSpc>
                <a:spcPct val="105000"/>
              </a:lnSpc>
              <a:spcAft>
                <a:spcPts val="100"/>
              </a:spcAft>
              <a:defRPr sz="800" b="0">
                <a:solidFill>
                  <a:srgbClr val="1E293B"/>
                </a:solidFill>
                <a:latin typeface="Segoe UI"/>
              </a:defRPr>
            </a:pPr>
            <a:r>
              <a:rPr sz="800" b="0">
                <a:solidFill>
                  <a:srgbClr val="1E293B"/>
                </a:solidFill>
                <a:latin typeface="Segoe UI"/>
              </a:rPr>
              <a:t>• Geoapify Bangalore Radar</a:t>
            </a:r>
          </a:p>
        </p:txBody>
      </p:sp>
      <p:sp>
        <p:nvSpPr>
          <p:cNvPr id="14" name="connector_81"/>
          <p:cNvSpPr/>
          <p:nvPr/>
        </p:nvSpPr>
        <p:spPr>
          <a:xfrm>
            <a:off x="3749040" y="2674620"/>
            <a:ext cx="1066648" cy="0"/>
          </a:xfrm>
          <a:prstGeom prst="line">
            <a:avLst/>
          </a:prstGeom>
          <a:noFill/>
          <a:ln w="19050">
            <a:solidFill>
              <a:schemeClr val="accent1"/>
            </a:solidFill>
            <a:prstDash val="solid"/>
            <a:tailEnd type="triangle"/>
          </a:ln>
        </p:spPr>
      </p:sp>
      <p:sp>
        <p:nvSpPr>
          <p:cNvPr id="15" name="connector_82"/>
          <p:cNvSpPr/>
          <p:nvPr/>
        </p:nvSpPr>
        <p:spPr>
          <a:xfrm>
            <a:off x="7376008" y="2674620"/>
            <a:ext cx="1066648" cy="0"/>
          </a:xfrm>
          <a:prstGeom prst="line">
            <a:avLst/>
          </a:prstGeom>
          <a:noFill/>
          <a:ln w="19050">
            <a:solidFill>
              <a:schemeClr val="accent1"/>
            </a:solidFill>
            <a:prstDash val="solid"/>
            <a:tailEnd type="triangle"/>
          </a:ln>
        </p:spPr>
      </p:sp>
      <p:sp>
        <p:nvSpPr>
          <p:cNvPr id="16" name="connector_83"/>
          <p:cNvSpPr/>
          <p:nvPr/>
        </p:nvSpPr>
        <p:spPr>
          <a:xfrm>
            <a:off x="3749040" y="3954780"/>
            <a:ext cx="1066648" cy="0"/>
          </a:xfrm>
          <a:prstGeom prst="line">
            <a:avLst/>
          </a:prstGeom>
          <a:noFill/>
          <a:ln w="19050">
            <a:solidFill>
              <a:schemeClr val="accent1"/>
            </a:solidFill>
            <a:prstDash val="solid"/>
            <a:tailEnd type="triangle"/>
          </a:ln>
        </p:spPr>
      </p:sp>
      <p:sp>
        <p:nvSpPr>
          <p:cNvPr id="17" name="connector_84"/>
          <p:cNvSpPr/>
          <p:nvPr/>
        </p:nvSpPr>
        <p:spPr>
          <a:xfrm>
            <a:off x="7376008" y="3954780"/>
            <a:ext cx="1066648" cy="0"/>
          </a:xfrm>
          <a:prstGeom prst="line">
            <a:avLst/>
          </a:prstGeom>
          <a:noFill/>
          <a:ln w="19050">
            <a:solidFill>
              <a:schemeClr val="accent1"/>
            </a:solidFill>
            <a:prstDash val="solid"/>
            <a:tailEnd type="triangle"/>
          </a:ln>
        </p:spPr>
      </p:sp>
      <p:sp>
        <p:nvSpPr>
          <p:cNvPr id="18" name="marker_85"/>
          <p:cNvSpPr/>
          <p:nvPr/>
        </p:nvSpPr>
        <p:spPr>
          <a:xfrm>
            <a:off x="548640" y="5166360"/>
            <a:ext cx="91440" cy="91440"/>
          </a:xfrm>
          <a:prstGeom prst="rect">
            <a:avLst/>
          </a:prstGeom>
          <a:solidFill>
            <a:schemeClr val="accent2"/>
          </a:solidFill>
          <a:ln/>
        </p:spPr>
      </p:sp>
      <p:sp>
        <p:nvSpPr>
          <p:cNvPr id="19" name="label_86"/>
          <p:cNvSpPr txBox="1"/>
          <p:nvPr/>
        </p:nvSpPr>
        <p:spPr>
          <a:xfrm>
            <a:off x="731520" y="5074920"/>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Technology Stack</a:t>
            </a:r>
            <a:endParaRPr lang="en-US" sz="1400" dirty="0"/>
          </a:p>
        </p:txBody>
      </p:sp>
      <p:sp>
        <p:nvSpPr>
          <p:cNvPr id="20" name="hint_87"/>
          <p:cNvSpPr txBox="1"/>
          <p:nvPr/>
        </p:nvSpPr>
        <p:spPr>
          <a:xfrm>
            <a:off x="548640" y="5440680"/>
            <a:ext cx="1691640" cy="548640"/>
          </a:xfrm>
          <a:prstGeom prst="rect">
            <a:avLst/>
          </a:prstGeom>
          <a:noFill/>
          <a:ln/>
        </p:spPr>
        <p:txBody>
          <a:bodyPr wrap="square" lIns="0" tIns="0" rIns="0" bIns="0" rtlCol="0" anchor="t"/>
          <a:lstStyle/>
          <a:p/>
        </p:txBody>
      </p:sp>
      <p:sp>
        <p:nvSpPr>
          <p:cNvPr id="21" name="stack_FRONTEND_88"/>
          <p:cNvSpPr/>
          <p:nvPr/>
        </p:nvSpPr>
        <p:spPr>
          <a:xfrm>
            <a:off x="2468880" y="5074920"/>
            <a:ext cx="1414729" cy="1005840"/>
          </a:xfrm>
          <a:prstGeom prst="rect">
            <a:avLst/>
          </a:prstGeom>
          <a:solidFill>
            <a:schemeClr val="bg2"/>
          </a:solidFill>
          <a:ln/>
        </p:spPr>
      </p:sp>
      <p:sp>
        <p:nvSpPr>
          <p:cNvPr id="22" name="cat_89"/>
          <p:cNvSpPr txBox="1"/>
          <p:nvPr/>
        </p:nvSpPr>
        <p:spPr>
          <a:xfrm>
            <a:off x="2606040" y="5212080"/>
            <a:ext cx="1140409"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FRONTEND</a:t>
            </a:r>
            <a:endParaRPr lang="en-US" sz="1000" dirty="0"/>
          </a:p>
        </p:txBody>
      </p:sp>
      <p:sp>
        <p:nvSpPr>
          <p:cNvPr id="23" name="tools_90"/>
          <p:cNvSpPr txBox="1"/>
          <p:nvPr/>
        </p:nvSpPr>
        <p:spPr>
          <a:xfrm>
            <a:off x="2606040" y="5513832"/>
            <a:ext cx="1140409" cy="457200"/>
          </a:xfrm>
          <a:prstGeom prst="rect">
            <a:avLst/>
          </a:prstGeom>
          <a:noFill/>
          <a:ln/>
        </p:spPr>
        <p:txBody>
          <a:bodyPr wrap="square" lIns="36576" tIns="36576" rIns="36576" bIns="36576" rtlCol="0" anchor="t"/>
          <a:lstStyle/>
          <a:p>
            <a:pPr indent="0" marL="0">
              <a:lnSpc>
                <a:spcPct val="100000"/>
              </a:lnSpc>
              <a:spcAft>
                <a:spcPts val="0"/>
              </a:spcAft>
              <a:buNone/>
              <a:defRPr sz="750" b="0">
                <a:solidFill>
                  <a:srgbClr val="1E293B"/>
                </a:solidFill>
                <a:latin typeface="Segoe UI"/>
              </a:defRPr>
            </a:pPr>
            <a:r>
              <a:rPr sz="750" b="0">
                <a:solidFill>
                  <a:srgbClr val="1E293B"/>
                </a:solidFill>
                <a:latin typeface="Segoe UI"/>
              </a:rPr>
              <a:t>HTML5, Tailwind CSS, Leaflet.js, Chart.js, Web Audio</a:t>
            </a:r>
            <a:endParaRPr lang="en-US" sz="1200" dirty="0"/>
          </a:p>
        </p:txBody>
      </p:sp>
      <p:sp>
        <p:nvSpPr>
          <p:cNvPr id="24" name="stack_BACKEND_91"/>
          <p:cNvSpPr/>
          <p:nvPr/>
        </p:nvSpPr>
        <p:spPr>
          <a:xfrm>
            <a:off x="4020769" y="5074920"/>
            <a:ext cx="1414729" cy="1005840"/>
          </a:xfrm>
          <a:prstGeom prst="rect">
            <a:avLst/>
          </a:prstGeom>
          <a:solidFill>
            <a:schemeClr val="bg2"/>
          </a:solidFill>
          <a:ln/>
        </p:spPr>
      </p:sp>
      <p:sp>
        <p:nvSpPr>
          <p:cNvPr id="25" name="cat_92"/>
          <p:cNvSpPr txBox="1"/>
          <p:nvPr/>
        </p:nvSpPr>
        <p:spPr>
          <a:xfrm>
            <a:off x="4157929" y="5212080"/>
            <a:ext cx="1140409"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BACKEND</a:t>
            </a:r>
            <a:endParaRPr lang="en-US" sz="1000" dirty="0"/>
          </a:p>
        </p:txBody>
      </p:sp>
      <p:sp>
        <p:nvSpPr>
          <p:cNvPr id="26" name="tools_93"/>
          <p:cNvSpPr txBox="1"/>
          <p:nvPr/>
        </p:nvSpPr>
        <p:spPr>
          <a:xfrm>
            <a:off x="4157929" y="5513832"/>
            <a:ext cx="1140409" cy="457200"/>
          </a:xfrm>
          <a:prstGeom prst="rect">
            <a:avLst/>
          </a:prstGeom>
          <a:noFill/>
          <a:ln/>
        </p:spPr>
        <p:txBody>
          <a:bodyPr wrap="square" lIns="36576" tIns="36576" rIns="36576" bIns="36576" rtlCol="0" anchor="t"/>
          <a:lstStyle/>
          <a:p>
            <a:pPr indent="0" marL="0">
              <a:lnSpc>
                <a:spcPct val="100000"/>
              </a:lnSpc>
              <a:spcAft>
                <a:spcPts val="0"/>
              </a:spcAft>
              <a:buNone/>
              <a:defRPr sz="750" b="0">
                <a:solidFill>
                  <a:srgbClr val="1E293B"/>
                </a:solidFill>
                <a:latin typeface="Segoe UI"/>
              </a:defRPr>
            </a:pPr>
            <a:r>
              <a:rPr sz="750" b="0">
                <a:solidFill>
                  <a:srgbClr val="1E293B"/>
                </a:solidFill>
                <a:latin typeface="Segoe UI"/>
              </a:rPr>
              <a:t>Python 3.12, ThreadingHTTPServer, REST API, ArmorIQ SDK</a:t>
            </a:r>
            <a:endParaRPr lang="en-US" sz="1200" dirty="0"/>
          </a:p>
        </p:txBody>
      </p:sp>
      <p:sp>
        <p:nvSpPr>
          <p:cNvPr id="27" name="stack_DATABASE_94"/>
          <p:cNvSpPr/>
          <p:nvPr/>
        </p:nvSpPr>
        <p:spPr>
          <a:xfrm>
            <a:off x="5572658" y="5074920"/>
            <a:ext cx="1414729" cy="1005840"/>
          </a:xfrm>
          <a:prstGeom prst="rect">
            <a:avLst/>
          </a:prstGeom>
          <a:solidFill>
            <a:schemeClr val="bg2"/>
          </a:solidFill>
          <a:ln/>
        </p:spPr>
      </p:sp>
      <p:sp>
        <p:nvSpPr>
          <p:cNvPr id="28" name="cat_95"/>
          <p:cNvSpPr txBox="1"/>
          <p:nvPr/>
        </p:nvSpPr>
        <p:spPr>
          <a:xfrm>
            <a:off x="5709818" y="5212080"/>
            <a:ext cx="1140409"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DATABASE</a:t>
            </a:r>
            <a:endParaRPr lang="en-US" sz="1000" dirty="0"/>
          </a:p>
        </p:txBody>
      </p:sp>
      <p:sp>
        <p:nvSpPr>
          <p:cNvPr id="29" name="tools_96"/>
          <p:cNvSpPr txBox="1"/>
          <p:nvPr/>
        </p:nvSpPr>
        <p:spPr>
          <a:xfrm>
            <a:off x="5709818" y="5513832"/>
            <a:ext cx="1140409" cy="457200"/>
          </a:xfrm>
          <a:prstGeom prst="rect">
            <a:avLst/>
          </a:prstGeom>
          <a:noFill/>
          <a:ln/>
        </p:spPr>
        <p:txBody>
          <a:bodyPr wrap="square" lIns="36576" tIns="36576" rIns="36576" bIns="36576" rtlCol="0" anchor="t"/>
          <a:lstStyle/>
          <a:p>
            <a:pPr indent="0" marL="0">
              <a:lnSpc>
                <a:spcPct val="100000"/>
              </a:lnSpc>
              <a:spcAft>
                <a:spcPts val="0"/>
              </a:spcAft>
              <a:buNone/>
              <a:defRPr sz="750" b="0">
                <a:solidFill>
                  <a:srgbClr val="1E293B"/>
                </a:solidFill>
                <a:latin typeface="Segoe UI"/>
              </a:defRPr>
            </a:pPr>
            <a:r>
              <a:rPr sz="750" b="0">
                <a:solidFill>
                  <a:srgbClr val="1E293B"/>
                </a:solidFill>
                <a:latin typeface="Segoe UI"/>
              </a:rPr>
              <a:t>Amazon Aurora Serverless v2 (PostgreSQL), SQL Ledger</a:t>
            </a:r>
            <a:endParaRPr lang="en-US" sz="1200" dirty="0"/>
          </a:p>
        </p:txBody>
      </p:sp>
      <p:sp>
        <p:nvSpPr>
          <p:cNvPr id="30" name="stack_AI / ML_97"/>
          <p:cNvSpPr/>
          <p:nvPr/>
        </p:nvSpPr>
        <p:spPr>
          <a:xfrm>
            <a:off x="7124548" y="5074920"/>
            <a:ext cx="1414729" cy="1005840"/>
          </a:xfrm>
          <a:prstGeom prst="rect">
            <a:avLst/>
          </a:prstGeom>
          <a:solidFill>
            <a:schemeClr val="bg2"/>
          </a:solidFill>
          <a:ln/>
        </p:spPr>
      </p:sp>
      <p:sp>
        <p:nvSpPr>
          <p:cNvPr id="31" name="cat_98"/>
          <p:cNvSpPr txBox="1"/>
          <p:nvPr/>
        </p:nvSpPr>
        <p:spPr>
          <a:xfrm>
            <a:off x="7261708" y="5212080"/>
            <a:ext cx="1140409"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AI / ML</a:t>
            </a:r>
            <a:endParaRPr lang="en-US" sz="1000" dirty="0"/>
          </a:p>
        </p:txBody>
      </p:sp>
      <p:sp>
        <p:nvSpPr>
          <p:cNvPr id="32" name="tools_99"/>
          <p:cNvSpPr txBox="1"/>
          <p:nvPr/>
        </p:nvSpPr>
        <p:spPr>
          <a:xfrm>
            <a:off x="7261708" y="5513832"/>
            <a:ext cx="1140409" cy="457200"/>
          </a:xfrm>
          <a:prstGeom prst="rect">
            <a:avLst/>
          </a:prstGeom>
          <a:noFill/>
          <a:ln/>
        </p:spPr>
        <p:txBody>
          <a:bodyPr wrap="square" lIns="36576" tIns="36576" rIns="36576" bIns="36576" rtlCol="0" anchor="t"/>
          <a:lstStyle/>
          <a:p>
            <a:pPr indent="0" marL="0">
              <a:lnSpc>
                <a:spcPct val="100000"/>
              </a:lnSpc>
              <a:spcAft>
                <a:spcPts val="0"/>
              </a:spcAft>
              <a:buNone/>
              <a:defRPr sz="750" b="0">
                <a:solidFill>
                  <a:srgbClr val="1E293B"/>
                </a:solidFill>
                <a:latin typeface="Segoe UI"/>
              </a:defRPr>
            </a:pPr>
            <a:r>
              <a:rPr sz="750" b="0">
                <a:solidFill>
                  <a:srgbClr val="1E293B"/>
                </a:solidFill>
                <a:latin typeface="Segoe UI"/>
              </a:rPr>
              <a:t>Amazon Textract, OpenAI GPT-4o, Claude 3.5, ElevenLabs</a:t>
            </a:r>
            <a:endParaRPr lang="en-US" sz="1200" dirty="0"/>
          </a:p>
        </p:txBody>
      </p:sp>
      <p:sp>
        <p:nvSpPr>
          <p:cNvPr id="33" name="stack_CLOUD / INFRA_100"/>
          <p:cNvSpPr/>
          <p:nvPr/>
        </p:nvSpPr>
        <p:spPr>
          <a:xfrm>
            <a:off x="8676437" y="5074920"/>
            <a:ext cx="1414729" cy="1005840"/>
          </a:xfrm>
          <a:prstGeom prst="rect">
            <a:avLst/>
          </a:prstGeom>
          <a:solidFill>
            <a:schemeClr val="bg2"/>
          </a:solidFill>
          <a:ln/>
        </p:spPr>
      </p:sp>
      <p:sp>
        <p:nvSpPr>
          <p:cNvPr id="34" name="cat_101"/>
          <p:cNvSpPr txBox="1"/>
          <p:nvPr/>
        </p:nvSpPr>
        <p:spPr>
          <a:xfrm>
            <a:off x="8813597" y="5212080"/>
            <a:ext cx="1140409"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CLOUD / INFRA</a:t>
            </a:r>
            <a:endParaRPr lang="en-US" sz="1000" dirty="0"/>
          </a:p>
        </p:txBody>
      </p:sp>
      <p:sp>
        <p:nvSpPr>
          <p:cNvPr id="35" name="tools_102"/>
          <p:cNvSpPr txBox="1"/>
          <p:nvPr/>
        </p:nvSpPr>
        <p:spPr>
          <a:xfrm>
            <a:off x="8813597" y="5513832"/>
            <a:ext cx="1140409" cy="457200"/>
          </a:xfrm>
          <a:prstGeom prst="rect">
            <a:avLst/>
          </a:prstGeom>
          <a:noFill/>
          <a:ln/>
        </p:spPr>
        <p:txBody>
          <a:bodyPr wrap="square" lIns="36576" tIns="36576" rIns="36576" bIns="36576" rtlCol="0" anchor="t"/>
          <a:lstStyle/>
          <a:p>
            <a:pPr indent="0" marL="0">
              <a:lnSpc>
                <a:spcPct val="100000"/>
              </a:lnSpc>
              <a:spcAft>
                <a:spcPts val="0"/>
              </a:spcAft>
              <a:buNone/>
              <a:defRPr sz="750" b="0">
                <a:solidFill>
                  <a:srgbClr val="1E293B"/>
                </a:solidFill>
                <a:latin typeface="Segoe UI"/>
              </a:defRPr>
            </a:pPr>
            <a:r>
              <a:rPr sz="750" b="0">
                <a:solidFill>
                  <a:srgbClr val="1E293B"/>
                </a:solidFill>
                <a:latin typeface="Segoe UI"/>
              </a:rPr>
              <a:t>AWS Step Functions, AWS Lambda, Amazon S3, Amazon SNS</a:t>
            </a:r>
            <a:endParaRPr lang="en-US" sz="1200" dirty="0"/>
          </a:p>
        </p:txBody>
      </p:sp>
      <p:sp>
        <p:nvSpPr>
          <p:cNvPr id="36" name="stack_OTHER TOOLS_103"/>
          <p:cNvSpPr/>
          <p:nvPr/>
        </p:nvSpPr>
        <p:spPr>
          <a:xfrm>
            <a:off x="10228326" y="5074920"/>
            <a:ext cx="1414729" cy="1005840"/>
          </a:xfrm>
          <a:prstGeom prst="rect">
            <a:avLst/>
          </a:prstGeom>
          <a:solidFill>
            <a:schemeClr val="bg2"/>
          </a:solidFill>
          <a:ln/>
        </p:spPr>
      </p:sp>
      <p:sp>
        <p:nvSpPr>
          <p:cNvPr id="37" name="cat_104"/>
          <p:cNvSpPr txBox="1"/>
          <p:nvPr/>
        </p:nvSpPr>
        <p:spPr>
          <a:xfrm>
            <a:off x="10365486" y="5212080"/>
            <a:ext cx="1140409"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OTHER TOOLS</a:t>
            </a:r>
            <a:endParaRPr lang="en-US" sz="1000" dirty="0"/>
          </a:p>
        </p:txBody>
      </p:sp>
      <p:sp>
        <p:nvSpPr>
          <p:cNvPr id="38" name="tools_105"/>
          <p:cNvSpPr txBox="1"/>
          <p:nvPr/>
        </p:nvSpPr>
        <p:spPr>
          <a:xfrm>
            <a:off x="10365486" y="5513832"/>
            <a:ext cx="1140409" cy="457200"/>
          </a:xfrm>
          <a:prstGeom prst="rect">
            <a:avLst/>
          </a:prstGeom>
          <a:noFill/>
          <a:ln/>
        </p:spPr>
        <p:txBody>
          <a:bodyPr wrap="square" lIns="36576" tIns="36576" rIns="36576" bIns="36576" rtlCol="0" anchor="t"/>
          <a:lstStyle/>
          <a:p>
            <a:pPr indent="0" marL="0">
              <a:lnSpc>
                <a:spcPct val="100000"/>
              </a:lnSpc>
              <a:spcAft>
                <a:spcPts val="0"/>
              </a:spcAft>
              <a:buNone/>
              <a:defRPr sz="750" b="0">
                <a:solidFill>
                  <a:srgbClr val="1E293B"/>
                </a:solidFill>
                <a:latin typeface="Segoe UI"/>
              </a:defRPr>
            </a:pPr>
            <a:r>
              <a:rPr sz="750" b="0">
                <a:solidFill>
                  <a:srgbClr val="1E293B"/>
                </a:solidFill>
                <a:latin typeface="Segoe UI"/>
              </a:rPr>
              <a:t>Geoapify Spatial API, Paytm Soundbox, Postman, Git</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731520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06  —  PROTOTYPE</a:t>
            </a:r>
            <a:endParaRPr lang="en-US" sz="1100" dirty="0"/>
          </a:p>
        </p:txBody>
      </p:sp>
      <p:sp>
        <p:nvSpPr>
          <p:cNvPr id="3" name="Text 3"/>
          <p:cNvSpPr/>
          <p:nvPr>
            <p:ph idx="104" type="title" hasCustomPrompt="1"/>
          </p:nvPr>
        </p:nvSpPr>
        <p:spPr>
          <a:xfrm>
            <a:off x="548640" y="640080"/>
            <a:ext cx="10058400" cy="566928"/>
          </a:xfrm>
          <a:prstGeom prst="rect">
            <a:avLst/>
          </a:prstGeom>
          <a:noFill/>
          <a:ln/>
        </p:spPr>
        <p:txBody>
          <a:bodyPr wrap="square" lIns="0" tIns="0" rIns="0" bIns="0" rtlCol="0" anchor="ctr"/>
          <a:lstStyle/>
          <a:p>
            <a:pPr algn="l" indent="0" marL="0">
              <a:buNone/>
            </a:pPr>
            <a:r>
              <a:rPr lang="en-US" sz="3000" b="1" dirty="0">
                <a:solidFill>
                  <a:schemeClr val="tx2"/>
                </a:solidFill>
              </a:rPr>
              <a:t>Implementation &amp; Prototype</a:t>
            </a:r>
            <a:endParaRPr lang="en-US" sz="3000" dirty="0"/>
          </a:p>
        </p:txBody>
      </p:sp>
      <p:sp>
        <p:nvSpPr>
          <p:cNvPr id="5" name="image_frame_106"/>
          <p:cNvSpPr/>
          <p:nvPr/>
        </p:nvSpPr>
        <p:spPr>
          <a:xfrm>
            <a:off x="548640" y="1508760"/>
            <a:ext cx="6949440" cy="3291840"/>
          </a:xfrm>
          <a:prstGeom prst="rect">
            <a:avLst/>
          </a:prstGeom>
          <a:solidFill>
            <a:schemeClr val="bg2"/>
          </a:solidFill>
          <a:ln w="12700">
            <a:solidFill>
              <a:schemeClr val="accent5"/>
            </a:solidFill>
            <a:prstDash val="dash"/>
          </a:ln>
        </p:spPr>
        <p:txBody>
          <a:bodyPr wrap="square" rtlCol="0" anchor="ctr"/>
          <a:lstStyle/>
          <a:p/>
        </p:txBody>
      </p:sp>
      <p:sp>
        <p:nvSpPr>
          <p:cNvPr id="6" name="image_frame_107"/>
          <p:cNvSpPr/>
          <p:nvPr/>
        </p:nvSpPr>
        <p:spPr>
          <a:xfrm>
            <a:off x="548640" y="5029200"/>
            <a:ext cx="2164080" cy="1051560"/>
          </a:xfrm>
          <a:prstGeom prst="rect">
            <a:avLst/>
          </a:prstGeom>
          <a:solidFill>
            <a:schemeClr val="bg2"/>
          </a:solidFill>
          <a:ln w="12700">
            <a:solidFill>
              <a:schemeClr val="accent5"/>
            </a:solidFill>
            <a:prstDash val="dash"/>
          </a:ln>
        </p:spPr>
        <p:txBody>
          <a:bodyPr wrap="square" rtlCol="0" anchor="ctr"/>
          <a:lstStyle/>
          <a:p/>
        </p:txBody>
      </p:sp>
      <p:sp>
        <p:nvSpPr>
          <p:cNvPr id="7" name="image_frame_108"/>
          <p:cNvSpPr/>
          <p:nvPr/>
        </p:nvSpPr>
        <p:spPr>
          <a:xfrm>
            <a:off x="2941320" y="5029200"/>
            <a:ext cx="2164080" cy="1051560"/>
          </a:xfrm>
          <a:prstGeom prst="rect">
            <a:avLst/>
          </a:prstGeom>
          <a:solidFill>
            <a:schemeClr val="bg2"/>
          </a:solidFill>
          <a:ln w="12700">
            <a:solidFill>
              <a:schemeClr val="accent5"/>
            </a:solidFill>
            <a:prstDash val="dash"/>
          </a:ln>
        </p:spPr>
        <p:txBody>
          <a:bodyPr wrap="square" rtlCol="0" anchor="ctr"/>
          <a:lstStyle/>
          <a:p/>
        </p:txBody>
      </p:sp>
      <p:sp>
        <p:nvSpPr>
          <p:cNvPr id="8" name="image_frame_109"/>
          <p:cNvSpPr/>
          <p:nvPr/>
        </p:nvSpPr>
        <p:spPr>
          <a:xfrm>
            <a:off x="5334000" y="5029200"/>
            <a:ext cx="2164080" cy="1051560"/>
          </a:xfrm>
          <a:prstGeom prst="rect">
            <a:avLst/>
          </a:prstGeom>
          <a:solidFill>
            <a:schemeClr val="bg2"/>
          </a:solidFill>
          <a:ln w="12700">
            <a:solidFill>
              <a:schemeClr val="accent5"/>
            </a:solidFill>
            <a:prstDash val="dash"/>
          </a:ln>
        </p:spPr>
        <p:txBody>
          <a:bodyPr wrap="square" rtlCol="0" anchor="ctr"/>
          <a:lstStyle/>
          <a:p/>
        </p:txBody>
      </p:sp>
      <p:sp>
        <p:nvSpPr>
          <p:cNvPr id="9" name="workflow_110"/>
          <p:cNvSpPr/>
          <p:nvPr/>
        </p:nvSpPr>
        <p:spPr>
          <a:xfrm>
            <a:off x="7772400" y="1508760"/>
            <a:ext cx="3870655" cy="3291840"/>
          </a:xfrm>
          <a:prstGeom prst="rect">
            <a:avLst/>
          </a:prstGeom>
          <a:solidFill>
            <a:schemeClr val="bg1"/>
          </a:solidFill>
          <a:ln w="12700">
            <a:solidFill>
              <a:schemeClr val="accent5"/>
            </a:solidFill>
            <a:prstDash val="solid"/>
          </a:ln>
        </p:spPr>
      </p:sp>
      <p:sp>
        <p:nvSpPr>
          <p:cNvPr id="10" name="marker_111"/>
          <p:cNvSpPr/>
          <p:nvPr/>
        </p:nvSpPr>
        <p:spPr>
          <a:xfrm>
            <a:off x="8046720" y="1874520"/>
            <a:ext cx="91440" cy="91440"/>
          </a:xfrm>
          <a:prstGeom prst="rect">
            <a:avLst/>
          </a:prstGeom>
          <a:solidFill>
            <a:schemeClr val="accent2"/>
          </a:solidFill>
          <a:ln/>
        </p:spPr>
      </p:sp>
      <p:sp>
        <p:nvSpPr>
          <p:cNvPr id="11" name="label_112"/>
          <p:cNvSpPr txBox="1"/>
          <p:nvPr/>
        </p:nvSpPr>
        <p:spPr>
          <a:xfrm>
            <a:off x="8229600" y="1783080"/>
            <a:ext cx="3139135" cy="274320"/>
          </a:xfrm>
          <a:prstGeom prst="rect">
            <a:avLst/>
          </a:prstGeom>
          <a:noFill/>
          <a:ln/>
        </p:spPr>
        <p:txBody>
          <a:bodyPr wrap="square" lIns="0" tIns="0" rIns="0" bIns="0" rtlCol="0" anchor="ctr"/>
          <a:lstStyle/>
          <a:p>
            <a:pPr indent="0" marL="0">
              <a:buNone/>
            </a:pPr>
            <a:r>
              <a:rPr lang="en-US" sz="1400" b="1" dirty="0">
                <a:solidFill>
                  <a:schemeClr val="tx2"/>
                </a:solidFill>
              </a:rPr>
              <a:t>Key Workflow</a:t>
            </a:r>
            <a:endParaRPr lang="en-US" sz="1400" dirty="0"/>
          </a:p>
        </p:txBody>
      </p:sp>
      <p:sp>
        <p:nvSpPr>
          <p:cNvPr id="12" name="workflow_line_113"/>
          <p:cNvSpPr/>
          <p:nvPr/>
        </p:nvSpPr>
        <p:spPr>
          <a:xfrm>
            <a:off x="8220456" y="2459736"/>
            <a:ext cx="0" cy="1810512"/>
          </a:xfrm>
          <a:prstGeom prst="line">
            <a:avLst/>
          </a:prstGeom>
          <a:noFill/>
          <a:ln w="15875">
            <a:solidFill>
              <a:schemeClr val="accent5"/>
            </a:solidFill>
            <a:prstDash val="solid"/>
          </a:ln>
        </p:spPr>
      </p:sp>
      <p:sp>
        <p:nvSpPr>
          <p:cNvPr id="13" name="step_num_114"/>
          <p:cNvSpPr/>
          <p:nvPr/>
        </p:nvSpPr>
        <p:spPr>
          <a:xfrm>
            <a:off x="8046720" y="2286000"/>
            <a:ext cx="347472" cy="34747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4" name="step_115"/>
          <p:cNvSpPr txBox="1"/>
          <p:nvPr/>
        </p:nvSpPr>
        <p:spPr>
          <a:xfrm>
            <a:off x="8577072" y="2286000"/>
            <a:ext cx="2791663" cy="347472"/>
          </a:xfrm>
          <a:prstGeom prst="rect">
            <a:avLst/>
          </a:prstGeom>
          <a:noFill/>
          <a:ln/>
        </p:spPr>
        <p:txBody>
          <a:bodyPr wrap="square" lIns="36576" tIns="36576" rIns="36576" bIns="36576" rtlCol="0" anchor="ctr"/>
          <a:lstStyle/>
          <a:p>
            <a:pPr indent="0" marL="0">
              <a:lnSpc>
                <a:spcPct val="100000"/>
              </a:lnSpc>
              <a:spcAft>
                <a:spcPts val="0"/>
              </a:spcAft>
              <a:buNone/>
              <a:defRPr sz="800" b="0">
                <a:solidFill>
                  <a:srgbClr val="1E293B"/>
                </a:solidFill>
                <a:latin typeface="Segoe UI"/>
              </a:defRPr>
            </a:pPr>
            <a:r>
              <a:rPr sz="800" b="0">
                <a:solidFill>
                  <a:srgbClr val="1E293B"/>
                </a:solidFill>
                <a:latin typeface="Segoe UI"/>
              </a:rPr>
              <a:t>Invoice OCR:</a:t>
            </a:r>
            <a:endParaRPr lang="en-US" sz="1400" dirty="0"/>
          </a:p>
          <a:p>
            <a:pPr>
              <a:lnSpc>
                <a:spcPct val="100000"/>
              </a:lnSpc>
              <a:spcAft>
                <a:spcPts val="0"/>
              </a:spcAft>
              <a:defRPr sz="800" b="0">
                <a:solidFill>
                  <a:srgbClr val="1E293B"/>
                </a:solidFill>
                <a:latin typeface="Segoe UI"/>
              </a:defRPr>
            </a:pPr>
            <a:r>
              <a:rPr sz="800" b="0">
                <a:solidFill>
                  <a:srgbClr val="1E293B"/>
                </a:solidFill>
                <a:latin typeface="Segoe UI"/>
              </a:rPr>
              <a:t>Paper bill uploaded to S3; Lambda + Textract extracts line items.</a:t>
            </a:r>
          </a:p>
        </p:txBody>
      </p:sp>
      <p:sp>
        <p:nvSpPr>
          <p:cNvPr id="15" name="step_num_116"/>
          <p:cNvSpPr/>
          <p:nvPr/>
        </p:nvSpPr>
        <p:spPr>
          <a:xfrm>
            <a:off x="8046720" y="2889504"/>
            <a:ext cx="347472" cy="347472"/>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step_117"/>
          <p:cNvSpPr txBox="1"/>
          <p:nvPr/>
        </p:nvSpPr>
        <p:spPr>
          <a:xfrm>
            <a:off x="8577072" y="2889504"/>
            <a:ext cx="2791663" cy="347472"/>
          </a:xfrm>
          <a:prstGeom prst="rect">
            <a:avLst/>
          </a:prstGeom>
          <a:noFill/>
          <a:ln/>
        </p:spPr>
        <p:txBody>
          <a:bodyPr wrap="square" lIns="36576" tIns="36576" rIns="36576" bIns="36576" rtlCol="0" anchor="ctr"/>
          <a:lstStyle/>
          <a:p>
            <a:pPr indent="0" marL="0">
              <a:lnSpc>
                <a:spcPct val="100000"/>
              </a:lnSpc>
              <a:spcAft>
                <a:spcPts val="0"/>
              </a:spcAft>
              <a:buNone/>
              <a:defRPr sz="800" b="0">
                <a:solidFill>
                  <a:srgbClr val="1E293B"/>
                </a:solidFill>
                <a:latin typeface="Segoe UI"/>
              </a:defRPr>
            </a:pPr>
            <a:r>
              <a:rPr sz="800" b="0">
                <a:solidFill>
                  <a:srgbClr val="1E293B"/>
                </a:solidFill>
                <a:latin typeface="Segoe UI"/>
              </a:rPr>
              <a:t>ArmorIQ Security:</a:t>
            </a:r>
            <a:endParaRPr lang="en-US" sz="1400" dirty="0"/>
          </a:p>
          <a:p>
            <a:pPr>
              <a:lnSpc>
                <a:spcPct val="100000"/>
              </a:lnSpc>
              <a:spcAft>
                <a:spcPts val="0"/>
              </a:spcAft>
              <a:defRPr sz="800" b="0">
                <a:solidFill>
                  <a:srgbClr val="1E293B"/>
                </a:solidFill>
                <a:latin typeface="Segoe UI"/>
              </a:defRPr>
            </a:pPr>
            <a:r>
              <a:rPr sz="800" b="0">
                <a:solidFill>
                  <a:srgbClr val="1E293B"/>
                </a:solidFill>
                <a:latin typeface="Segoe UI"/>
              </a:rPr>
              <a:t>Cryptographic ECDSA signature locks transaction intent.</a:t>
            </a:r>
          </a:p>
        </p:txBody>
      </p:sp>
      <p:sp>
        <p:nvSpPr>
          <p:cNvPr id="17" name="step_num_118"/>
          <p:cNvSpPr/>
          <p:nvPr/>
        </p:nvSpPr>
        <p:spPr>
          <a:xfrm>
            <a:off x="8046720" y="3493008"/>
            <a:ext cx="347472" cy="347472"/>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step_119"/>
          <p:cNvSpPr txBox="1"/>
          <p:nvPr/>
        </p:nvSpPr>
        <p:spPr>
          <a:xfrm>
            <a:off x="8577072" y="3493008"/>
            <a:ext cx="2791663" cy="347472"/>
          </a:xfrm>
          <a:prstGeom prst="rect">
            <a:avLst/>
          </a:prstGeom>
          <a:noFill/>
          <a:ln/>
        </p:spPr>
        <p:txBody>
          <a:bodyPr wrap="square" lIns="36576" tIns="36576" rIns="36576" bIns="36576" rtlCol="0" anchor="ctr"/>
          <a:lstStyle/>
          <a:p>
            <a:pPr indent="0" marL="0">
              <a:lnSpc>
                <a:spcPct val="100000"/>
              </a:lnSpc>
              <a:spcAft>
                <a:spcPts val="0"/>
              </a:spcAft>
              <a:buNone/>
              <a:defRPr sz="800" b="0">
                <a:solidFill>
                  <a:srgbClr val="1E293B"/>
                </a:solidFill>
                <a:latin typeface="Segoe UI"/>
              </a:defRPr>
            </a:pPr>
            <a:r>
              <a:rPr sz="800" b="0">
                <a:solidFill>
                  <a:srgbClr val="1E293B"/>
                </a:solidFill>
                <a:latin typeface="Segoe UI"/>
              </a:rPr>
              <a:t>Dual Underwriting:</a:t>
            </a:r>
            <a:endParaRPr lang="en-US" sz="1400" dirty="0"/>
          </a:p>
          <a:p>
            <a:pPr>
              <a:lnSpc>
                <a:spcPct val="100000"/>
              </a:lnSpc>
              <a:spcAft>
                <a:spcPts val="0"/>
              </a:spcAft>
              <a:defRPr sz="800" b="0">
                <a:solidFill>
                  <a:srgbClr val="1E293B"/>
                </a:solidFill>
                <a:latin typeface="Segoe UI"/>
              </a:defRPr>
            </a:pPr>
            <a:r>
              <a:rPr sz="800" b="0">
                <a:solidFill>
                  <a:srgbClr val="1E293B"/>
                </a:solidFill>
                <a:latin typeface="Segoe UI"/>
              </a:rPr>
              <a:t>Step Functions runs GPT-4o AI &amp; Aurora SQL runway in parallel.</a:t>
            </a:r>
          </a:p>
        </p:txBody>
      </p:sp>
      <p:sp>
        <p:nvSpPr>
          <p:cNvPr id="19" name="step_num_120"/>
          <p:cNvSpPr/>
          <p:nvPr/>
        </p:nvSpPr>
        <p:spPr>
          <a:xfrm>
            <a:off x="8046720" y="4096512"/>
            <a:ext cx="347472" cy="347472"/>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step_121"/>
          <p:cNvSpPr txBox="1"/>
          <p:nvPr/>
        </p:nvSpPr>
        <p:spPr>
          <a:xfrm>
            <a:off x="8577072" y="4096512"/>
            <a:ext cx="2791663" cy="347472"/>
          </a:xfrm>
          <a:prstGeom prst="rect">
            <a:avLst/>
          </a:prstGeom>
          <a:noFill/>
          <a:ln/>
        </p:spPr>
        <p:txBody>
          <a:bodyPr wrap="square" lIns="36576" tIns="36576" rIns="36576" bIns="36576" rtlCol="0" anchor="ctr"/>
          <a:lstStyle/>
          <a:p>
            <a:pPr indent="0" marL="0">
              <a:lnSpc>
                <a:spcPct val="100000"/>
              </a:lnSpc>
              <a:spcAft>
                <a:spcPts val="0"/>
              </a:spcAft>
              <a:buNone/>
              <a:defRPr sz="800" b="0">
                <a:solidFill>
                  <a:srgbClr val="1E293B"/>
                </a:solidFill>
                <a:latin typeface="Segoe UI"/>
              </a:defRPr>
            </a:pPr>
            <a:r>
              <a:rPr sz="800" b="0">
                <a:solidFill>
                  <a:srgbClr val="1E293B"/>
                </a:solidFill>
                <a:latin typeface="Segoe UI"/>
              </a:rPr>
              <a:t>Automated Alerts:</a:t>
            </a:r>
            <a:endParaRPr lang="en-US" sz="1400" dirty="0"/>
          </a:p>
          <a:p>
            <a:pPr>
              <a:lnSpc>
                <a:spcPct val="100000"/>
              </a:lnSpc>
              <a:spcAft>
                <a:spcPts val="0"/>
              </a:spcAft>
              <a:defRPr sz="800" b="0">
                <a:solidFill>
                  <a:srgbClr val="1E293B"/>
                </a:solidFill>
                <a:latin typeface="Segoe UI"/>
              </a:defRPr>
            </a:pPr>
            <a:r>
              <a:rPr sz="800" b="0">
                <a:solidFill>
                  <a:srgbClr val="1E293B"/>
                </a:solidFill>
                <a:latin typeface="Segoe UI"/>
              </a:rPr>
              <a:t>Choice logic triggers Amazon SNS (SMS/WhatsApp) &amp; Mandi route.</a:t>
            </a:r>
          </a:p>
        </p:txBody>
      </p:sp>
      <p:sp>
        <p:nvSpPr>
          <p:cNvPr id="21" name="card_Current Implementation Status_122"/>
          <p:cNvSpPr/>
          <p:nvPr/>
        </p:nvSpPr>
        <p:spPr>
          <a:xfrm>
            <a:off x="7772400" y="5029200"/>
            <a:ext cx="3870655" cy="1051560"/>
          </a:xfrm>
          <a:prstGeom prst="rect">
            <a:avLst/>
          </a:prstGeom>
          <a:solidFill>
            <a:schemeClr val="bg2"/>
          </a:solidFill>
          <a:ln/>
        </p:spPr>
      </p:sp>
      <p:sp>
        <p:nvSpPr>
          <p:cNvPr id="22" name="marker_123"/>
          <p:cNvSpPr/>
          <p:nvPr/>
        </p:nvSpPr>
        <p:spPr>
          <a:xfrm>
            <a:off x="7973568" y="5321808"/>
            <a:ext cx="91440" cy="91440"/>
          </a:xfrm>
          <a:prstGeom prst="rect">
            <a:avLst/>
          </a:prstGeom>
          <a:solidFill>
            <a:schemeClr val="accent2"/>
          </a:solidFill>
          <a:ln/>
        </p:spPr>
      </p:sp>
      <p:sp>
        <p:nvSpPr>
          <p:cNvPr id="23" name="label_124"/>
          <p:cNvSpPr txBox="1"/>
          <p:nvPr/>
        </p:nvSpPr>
        <p:spPr>
          <a:xfrm>
            <a:off x="8156448" y="5230368"/>
            <a:ext cx="3285439" cy="274320"/>
          </a:xfrm>
          <a:prstGeom prst="rect">
            <a:avLst/>
          </a:prstGeom>
          <a:noFill/>
          <a:ln/>
        </p:spPr>
        <p:txBody>
          <a:bodyPr wrap="square" lIns="0" tIns="0" rIns="0" bIns="0" rtlCol="0" anchor="ctr"/>
          <a:lstStyle/>
          <a:p>
            <a:pPr indent="0" marL="0">
              <a:buNone/>
            </a:pPr>
            <a:r>
              <a:rPr lang="en-US" sz="1300" b="1" dirty="0">
                <a:solidFill>
                  <a:schemeClr val="tx2"/>
                </a:solidFill>
              </a:rPr>
              <a:t>Current Implementation Status</a:t>
            </a:r>
            <a:endParaRPr lang="en-US" sz="1300" dirty="0"/>
          </a:p>
        </p:txBody>
      </p:sp>
      <p:sp>
        <p:nvSpPr>
          <p:cNvPr id="24" name="content_125"/>
          <p:cNvSpPr txBox="1"/>
          <p:nvPr/>
        </p:nvSpPr>
        <p:spPr>
          <a:xfrm>
            <a:off x="7973568" y="5641848"/>
            <a:ext cx="3468319" cy="237744"/>
          </a:xfrm>
          <a:prstGeom prst="rect">
            <a:avLst/>
          </a:prstGeom>
          <a:noFill/>
          <a:ln/>
        </p:spPr>
        <p:txBody>
          <a:bodyPr wrap="square" lIns="36576" tIns="36576" rIns="36576" bIns="36576" rtlCol="0" anchor="t"/>
          <a:lstStyle/>
          <a:p>
            <a:pPr indent="0" marL="0">
              <a:lnSpc>
                <a:spcPct val="105000"/>
              </a:lnSpc>
              <a:spcAft>
                <a:spcPts val="0"/>
              </a:spcAft>
              <a:buNone/>
              <a:defRPr sz="750" b="0">
                <a:solidFill>
                  <a:srgbClr val="1E293B"/>
                </a:solidFill>
                <a:latin typeface="Segoe UI"/>
              </a:defRPr>
            </a:pPr>
            <a:r>
              <a:rPr sz="750" b="0">
                <a:solidFill>
                  <a:srgbClr val="1E293B"/>
                </a:solidFill>
                <a:latin typeface="Segoe UI"/>
              </a:rPr>
              <a:t>100% Functional MVP on port 8080: Features live AWS Step Functions ASL visual DAG graph, Aurora SQL ledger, Amazon SNS simulator, and Bangalore Wholesale Radar.</a:t>
            </a:r>
            <a:endParaRPr lang="en-US"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6</a:t>
            </a:fld>
            <a:endParaRPr lang="en-US"/>
          </a:p>
        </p:txBody>
      </p:sp>
      <p:pic>
        <p:nvPicPr>
          <p:cNvPr id="26" name="Picture 25" descr="media_1792735639326_aeb74396.png"/>
          <p:cNvPicPr>
            <a:picLocks noChangeAspect="1"/>
          </p:cNvPicPr>
          <p:nvPr/>
        </p:nvPicPr>
        <p:blipFill>
          <a:blip r:embed="rId3"/>
          <a:stretch>
            <a:fillRect/>
          </a:stretch>
        </p:blipFill>
        <p:spPr>
          <a:xfrm>
            <a:off x="548640" y="1508760"/>
            <a:ext cx="6949440" cy="3291840"/>
          </a:xfrm>
          <a:prstGeom prst="rect">
            <a:avLst/>
          </a:prstGeom>
        </p:spPr>
      </p:pic>
      <p:pic>
        <p:nvPicPr>
          <p:cNvPr id="27" name="Picture 26" descr="media_1792752757805_248f20cd.png"/>
          <p:cNvPicPr>
            <a:picLocks noChangeAspect="1"/>
          </p:cNvPicPr>
          <p:nvPr/>
        </p:nvPicPr>
        <p:blipFill>
          <a:blip r:embed="rId4"/>
          <a:stretch>
            <a:fillRect/>
          </a:stretch>
        </p:blipFill>
        <p:spPr>
          <a:xfrm>
            <a:off x="548640" y="5029200"/>
            <a:ext cx="2164080" cy="1051560"/>
          </a:xfrm>
          <a:prstGeom prst="rect">
            <a:avLst/>
          </a:prstGeom>
        </p:spPr>
      </p:pic>
      <p:pic>
        <p:nvPicPr>
          <p:cNvPr id="28" name="Picture 27" descr="media_1792776500990_3eab97e4.png"/>
          <p:cNvPicPr>
            <a:picLocks noChangeAspect="1"/>
          </p:cNvPicPr>
          <p:nvPr/>
        </p:nvPicPr>
        <p:blipFill>
          <a:blip r:embed="rId5"/>
          <a:stretch>
            <a:fillRect/>
          </a:stretch>
        </p:blipFill>
        <p:spPr>
          <a:xfrm>
            <a:off x="2941320" y="5029200"/>
            <a:ext cx="2164080" cy="1051560"/>
          </a:xfrm>
          <a:prstGeom prst="rect">
            <a:avLst/>
          </a:prstGeom>
        </p:spPr>
      </p:pic>
      <p:pic>
        <p:nvPicPr>
          <p:cNvPr id="29" name="Picture 28" descr="media_1792807811266_ebdc4050.png"/>
          <p:cNvPicPr>
            <a:picLocks noChangeAspect="1"/>
          </p:cNvPicPr>
          <p:nvPr/>
        </p:nvPicPr>
        <p:blipFill>
          <a:blip r:embed="rId6"/>
          <a:stretch>
            <a:fillRect/>
          </a:stretch>
        </p:blipFill>
        <p:spPr>
          <a:xfrm>
            <a:off x="5334000" y="5029200"/>
            <a:ext cx="2164080" cy="1051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731520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07  —  IMPACT</a:t>
            </a:r>
            <a:endParaRPr lang="en-US" sz="1100" dirty="0"/>
          </a:p>
        </p:txBody>
      </p:sp>
      <p:sp>
        <p:nvSpPr>
          <p:cNvPr id="3" name="Text 3"/>
          <p:cNvSpPr/>
          <p:nvPr>
            <p:ph idx="104" type="title" hasCustomPrompt="1"/>
          </p:nvPr>
        </p:nvSpPr>
        <p:spPr>
          <a:xfrm>
            <a:off x="548640" y="640080"/>
            <a:ext cx="10058400" cy="566928"/>
          </a:xfrm>
          <a:prstGeom prst="rect">
            <a:avLst/>
          </a:prstGeom>
          <a:noFill/>
          <a:ln/>
        </p:spPr>
        <p:txBody>
          <a:bodyPr wrap="square" lIns="0" tIns="0" rIns="0" bIns="0" rtlCol="0" anchor="ctr"/>
          <a:lstStyle/>
          <a:p>
            <a:pPr algn="l" indent="0" marL="0">
              <a:buNone/>
            </a:pPr>
            <a:r>
              <a:rPr lang="en-US" sz="3000" b="1" dirty="0">
                <a:solidFill>
                  <a:schemeClr val="tx2"/>
                </a:solidFill>
              </a:rPr>
              <a:t>Feasibility &amp; Impact</a:t>
            </a:r>
            <a:endParaRPr lang="en-US" sz="3000" dirty="0"/>
          </a:p>
        </p:txBody>
      </p:sp>
      <p:sp>
        <p:nvSpPr>
          <p:cNvPr id="5" name="card_Feasibility_126"/>
          <p:cNvSpPr/>
          <p:nvPr/>
        </p:nvSpPr>
        <p:spPr>
          <a:xfrm>
            <a:off x="548640" y="1508760"/>
            <a:ext cx="3545738" cy="2651760"/>
          </a:xfrm>
          <a:prstGeom prst="rect">
            <a:avLst/>
          </a:prstGeom>
          <a:solidFill>
            <a:schemeClr val="bg2"/>
          </a:solidFill>
          <a:ln/>
        </p:spPr>
      </p:sp>
      <p:sp>
        <p:nvSpPr>
          <p:cNvPr id="6" name="marker_127"/>
          <p:cNvSpPr/>
          <p:nvPr/>
        </p:nvSpPr>
        <p:spPr>
          <a:xfrm>
            <a:off x="804672" y="1856232"/>
            <a:ext cx="91440" cy="91440"/>
          </a:xfrm>
          <a:prstGeom prst="rect">
            <a:avLst/>
          </a:prstGeom>
          <a:solidFill>
            <a:schemeClr val="accent2"/>
          </a:solidFill>
          <a:ln/>
        </p:spPr>
      </p:sp>
      <p:sp>
        <p:nvSpPr>
          <p:cNvPr id="7" name="label_128"/>
          <p:cNvSpPr txBox="1"/>
          <p:nvPr/>
        </p:nvSpPr>
        <p:spPr>
          <a:xfrm>
            <a:off x="987552" y="1764792"/>
            <a:ext cx="2850794" cy="274320"/>
          </a:xfrm>
          <a:prstGeom prst="rect">
            <a:avLst/>
          </a:prstGeom>
          <a:noFill/>
          <a:ln/>
        </p:spPr>
        <p:txBody>
          <a:bodyPr wrap="square" lIns="0" tIns="0" rIns="0" bIns="0" rtlCol="0" anchor="ctr"/>
          <a:lstStyle/>
          <a:p>
            <a:pPr indent="0" marL="0">
              <a:buNone/>
            </a:pPr>
            <a:r>
              <a:rPr lang="en-US" sz="1400" b="1" dirty="0">
                <a:solidFill>
                  <a:schemeClr val="tx2"/>
                </a:solidFill>
              </a:rPr>
              <a:t>Feasibility</a:t>
            </a:r>
            <a:endParaRPr lang="en-US" sz="1400" dirty="0"/>
          </a:p>
        </p:txBody>
      </p:sp>
      <p:sp>
        <p:nvSpPr>
          <p:cNvPr id="8" name="content_129"/>
          <p:cNvSpPr txBox="1"/>
          <p:nvPr/>
        </p:nvSpPr>
        <p:spPr>
          <a:xfrm>
            <a:off x="804672" y="2176272"/>
            <a:ext cx="3033674" cy="1728216"/>
          </a:xfrm>
          <a:prstGeom prst="rect">
            <a:avLst/>
          </a:prstGeom>
          <a:noFill/>
          <a:ln/>
        </p:spPr>
        <p:txBody>
          <a:bodyPr wrap="square" lIns="36576" tIns="36576" rIns="36576" bIns="36576" rtlCol="0" anchor="t"/>
          <a:lstStyle/>
          <a:p>
            <a:pPr indent="0" marL="0">
              <a:lnSpc>
                <a:spcPct val="110000"/>
              </a:lnSpc>
              <a:spcAft>
                <a:spcPts val="0"/>
              </a:spcAft>
              <a:buNone/>
              <a:defRPr sz="850" b="0">
                <a:solidFill>
                  <a:srgbClr val="1E293B"/>
                </a:solidFill>
                <a:latin typeface="Segoe UI"/>
              </a:defRPr>
            </a:pPr>
            <a:r>
              <a:rPr sz="850" b="0">
                <a:solidFill>
                  <a:srgbClr val="1E293B"/>
                </a:solidFill>
                <a:latin typeface="Segoe UI"/>
              </a:rPr>
              <a:t>Built on serverless AWS pay-per-use architecture (Lambda, Step Functions, Aurora, SNS). Operates at &lt;₹0.18/invoice. Zero server maintenance, sub-2s state machine execution, and fully compliant with Indian IT Act 2000 (ECDSA digital signatures) and UPI Soundboxes.</a:t>
            </a:r>
            <a:endParaRPr lang="en-US" sz="1400" dirty="0"/>
          </a:p>
        </p:txBody>
      </p:sp>
      <p:sp>
        <p:nvSpPr>
          <p:cNvPr id="9" name="card_Validation_130"/>
          <p:cNvSpPr/>
          <p:nvPr/>
        </p:nvSpPr>
        <p:spPr>
          <a:xfrm>
            <a:off x="4322978" y="1508760"/>
            <a:ext cx="3545738" cy="2651760"/>
          </a:xfrm>
          <a:prstGeom prst="rect">
            <a:avLst/>
          </a:prstGeom>
          <a:solidFill>
            <a:schemeClr val="bg2"/>
          </a:solidFill>
          <a:ln/>
        </p:spPr>
      </p:sp>
      <p:sp>
        <p:nvSpPr>
          <p:cNvPr id="10" name="marker_131"/>
          <p:cNvSpPr/>
          <p:nvPr/>
        </p:nvSpPr>
        <p:spPr>
          <a:xfrm>
            <a:off x="4579010" y="1856232"/>
            <a:ext cx="91440" cy="91440"/>
          </a:xfrm>
          <a:prstGeom prst="rect">
            <a:avLst/>
          </a:prstGeom>
          <a:solidFill>
            <a:schemeClr val="accent2"/>
          </a:solidFill>
          <a:ln/>
        </p:spPr>
      </p:sp>
      <p:sp>
        <p:nvSpPr>
          <p:cNvPr id="11" name="label_132"/>
          <p:cNvSpPr txBox="1"/>
          <p:nvPr/>
        </p:nvSpPr>
        <p:spPr>
          <a:xfrm>
            <a:off x="4761890" y="1764792"/>
            <a:ext cx="1662074" cy="274320"/>
          </a:xfrm>
          <a:prstGeom prst="rect">
            <a:avLst/>
          </a:prstGeom>
          <a:noFill/>
          <a:ln/>
        </p:spPr>
        <p:txBody>
          <a:bodyPr wrap="square" lIns="0" tIns="0" rIns="0" bIns="0" rtlCol="0" anchor="ctr"/>
          <a:lstStyle/>
          <a:p>
            <a:pPr indent="0" marL="0">
              <a:buNone/>
            </a:pPr>
            <a:r>
              <a:rPr lang="en-US" sz="1400" b="1" dirty="0">
                <a:solidFill>
                  <a:schemeClr val="tx2"/>
                </a:solidFill>
              </a:rPr>
              <a:t>Validation</a:t>
            </a:r>
            <a:endParaRPr lang="en-US" sz="1400" dirty="0"/>
          </a:p>
        </p:txBody>
      </p:sp>
      <p:sp>
        <p:nvSpPr>
          <p:cNvPr id="12" name="tag_133"/>
          <p:cNvSpPr txBox="1"/>
          <p:nvPr/>
        </p:nvSpPr>
        <p:spPr>
          <a:xfrm>
            <a:off x="6423965" y="1783080"/>
            <a:ext cx="1188720" cy="237744"/>
          </a:xfrm>
          <a:prstGeom prst="rect">
            <a:avLst/>
          </a:prstGeom>
          <a:solidFill>
            <a:schemeClr val="bg1"/>
          </a:solidFill>
          <a:ln w="9525">
            <a:solidFill>
              <a:schemeClr val="accent1"/>
            </a:solidFill>
          </a:ln>
        </p:spPr>
        <p:txBody>
          <a:bodyPr wrap="square" lIns="0" tIns="0" rIns="0" bIns="0" rtlCol="0" anchor="ctr"/>
          <a:lstStyle/>
          <a:p>
            <a:pPr algn="ctr" indent="0" marL="0">
              <a:buNone/>
            </a:pPr>
            <a:r>
              <a:rPr lang="en-US" sz="1000" b="1" dirty="0">
                <a:solidFill>
                  <a:schemeClr val="accent1"/>
                </a:solidFill>
              </a:rPr>
              <a:t>DEMONSTRATED</a:t>
            </a:r>
            <a:endParaRPr lang="en-US" sz="1000" dirty="0"/>
          </a:p>
        </p:txBody>
      </p:sp>
      <p:sp>
        <p:nvSpPr>
          <p:cNvPr id="13" name="content_134"/>
          <p:cNvSpPr txBox="1"/>
          <p:nvPr/>
        </p:nvSpPr>
        <p:spPr>
          <a:xfrm>
            <a:off x="4579010" y="2176272"/>
            <a:ext cx="3033674" cy="1728216"/>
          </a:xfrm>
          <a:prstGeom prst="rect">
            <a:avLst/>
          </a:prstGeom>
          <a:noFill/>
          <a:ln/>
        </p:spPr>
        <p:txBody>
          <a:bodyPr wrap="square" lIns="36576" tIns="36576" rIns="36576" bIns="36576" rtlCol="0" anchor="t"/>
          <a:lstStyle/>
          <a:p>
            <a:pPr indent="0" marL="0">
              <a:lnSpc>
                <a:spcPct val="105000"/>
              </a:lnSpc>
              <a:spcAft>
                <a:spcPts val="200"/>
              </a:spcAft>
              <a:buNone/>
              <a:defRPr sz="850" b="0">
                <a:solidFill>
                  <a:srgbClr val="1E293B"/>
                </a:solidFill>
                <a:latin typeface="Segoe UI"/>
              </a:defRPr>
            </a:pPr>
            <a:r>
              <a:rPr sz="850" b="0">
                <a:solidFill>
                  <a:srgbClr val="1E293B"/>
                </a:solidFill>
                <a:latin typeface="Segoe UI"/>
              </a:rPr>
              <a:t>Demonstrated on authentic Kirana invoices:</a:t>
            </a:r>
            <a:endParaRPr lang="en-US" sz="1400" dirty="0"/>
          </a:p>
          <a:p>
            <a:pPr>
              <a:lnSpc>
                <a:spcPct val="105000"/>
              </a:lnSpc>
              <a:spcAft>
                <a:spcPts val="200"/>
              </a:spcAft>
              <a:defRPr sz="850" b="0">
                <a:solidFill>
                  <a:srgbClr val="1E293B"/>
                </a:solidFill>
                <a:latin typeface="Segoe UI"/>
              </a:defRPr>
            </a:pPr>
            <a:r>
              <a:rPr sz="850" b="0">
                <a:solidFill>
                  <a:srgbClr val="1E293B"/>
                </a:solidFill>
                <a:latin typeface="Segoe UI"/>
              </a:rPr>
              <a:t>• Detected +4.3% stealth inflation on Parle-G</a:t>
            </a:r>
          </a:p>
          <a:p>
            <a:pPr>
              <a:lnSpc>
                <a:spcPct val="105000"/>
              </a:lnSpc>
              <a:spcAft>
                <a:spcPts val="200"/>
              </a:spcAft>
              <a:defRPr sz="850" b="0">
                <a:solidFill>
                  <a:srgbClr val="1E293B"/>
                </a:solidFill>
                <a:latin typeface="Segoe UI"/>
              </a:defRPr>
            </a:pPr>
            <a:r>
              <a:rPr sz="850" b="0">
                <a:solidFill>
                  <a:srgbClr val="1E293B"/>
                </a:solidFill>
                <a:latin typeface="Segoe UI"/>
              </a:rPr>
              <a:t>• Forecasted -₹48,200 liquidity deficit on Day 18</a:t>
            </a:r>
          </a:p>
          <a:p>
            <a:pPr>
              <a:lnSpc>
                <a:spcPct val="105000"/>
              </a:lnSpc>
              <a:spcAft>
                <a:spcPts val="200"/>
              </a:spcAft>
              <a:defRPr sz="850" b="0">
                <a:solidFill>
                  <a:srgbClr val="1E293B"/>
                </a:solidFill>
                <a:latin typeface="Segoe UI"/>
              </a:defRPr>
            </a:pPr>
            <a:r>
              <a:rPr sz="850" b="0">
                <a:solidFill>
                  <a:srgbClr val="1E293B"/>
                </a:solidFill>
                <a:latin typeface="Segoe UI"/>
              </a:rPr>
              <a:t>• Proved 1.12x DSCR loan readiness threshold</a:t>
            </a:r>
          </a:p>
          <a:p>
            <a:pPr>
              <a:lnSpc>
                <a:spcPct val="105000"/>
              </a:lnSpc>
              <a:spcAft>
                <a:spcPts val="200"/>
              </a:spcAft>
              <a:defRPr sz="850" b="0">
                <a:solidFill>
                  <a:srgbClr val="1E293B"/>
                </a:solidFill>
                <a:latin typeface="Segoe UI"/>
              </a:defRPr>
            </a:pPr>
            <a:r>
              <a:rPr sz="850" b="0">
                <a:solidFill>
                  <a:srgbClr val="1E293B"/>
                </a:solidFill>
                <a:latin typeface="Segoe UI"/>
              </a:rPr>
              <a:t>• Unlocked ₹1,880/mo savings via Yeshwanthpur Mandi</a:t>
            </a:r>
          </a:p>
        </p:txBody>
      </p:sp>
      <p:sp>
        <p:nvSpPr>
          <p:cNvPr id="14" name="card_Potential Impact_135"/>
          <p:cNvSpPr/>
          <p:nvPr/>
        </p:nvSpPr>
        <p:spPr>
          <a:xfrm>
            <a:off x="8097317" y="1508760"/>
            <a:ext cx="3545738" cy="2651760"/>
          </a:xfrm>
          <a:prstGeom prst="rect">
            <a:avLst/>
          </a:prstGeom>
          <a:solidFill>
            <a:schemeClr val="bg2"/>
          </a:solidFill>
          <a:ln/>
        </p:spPr>
      </p:sp>
      <p:sp>
        <p:nvSpPr>
          <p:cNvPr id="15" name="marker_136"/>
          <p:cNvSpPr/>
          <p:nvPr/>
        </p:nvSpPr>
        <p:spPr>
          <a:xfrm>
            <a:off x="8353349" y="1856232"/>
            <a:ext cx="91440" cy="91440"/>
          </a:xfrm>
          <a:prstGeom prst="rect">
            <a:avLst/>
          </a:prstGeom>
          <a:solidFill>
            <a:schemeClr val="accent2"/>
          </a:solidFill>
          <a:ln/>
        </p:spPr>
      </p:sp>
      <p:sp>
        <p:nvSpPr>
          <p:cNvPr id="16" name="label_137"/>
          <p:cNvSpPr txBox="1"/>
          <p:nvPr/>
        </p:nvSpPr>
        <p:spPr>
          <a:xfrm>
            <a:off x="8536229" y="1764792"/>
            <a:ext cx="1662074" cy="274320"/>
          </a:xfrm>
          <a:prstGeom prst="rect">
            <a:avLst/>
          </a:prstGeom>
          <a:noFill/>
          <a:ln/>
        </p:spPr>
        <p:txBody>
          <a:bodyPr wrap="square" lIns="0" tIns="0" rIns="0" bIns="0" rtlCol="0" anchor="ctr"/>
          <a:lstStyle/>
          <a:p>
            <a:pPr indent="0" marL="0">
              <a:buNone/>
            </a:pPr>
            <a:r>
              <a:rPr lang="en-US" sz="1400" b="1" dirty="0">
                <a:solidFill>
                  <a:schemeClr val="tx2"/>
                </a:solidFill>
              </a:rPr>
              <a:t>Potential Impact</a:t>
            </a:r>
            <a:endParaRPr lang="en-US" sz="1400" dirty="0"/>
          </a:p>
        </p:txBody>
      </p:sp>
      <p:sp>
        <p:nvSpPr>
          <p:cNvPr id="17" name="tag_138"/>
          <p:cNvSpPr txBox="1"/>
          <p:nvPr/>
        </p:nvSpPr>
        <p:spPr>
          <a:xfrm>
            <a:off x="10198303" y="1783080"/>
            <a:ext cx="1188720" cy="237744"/>
          </a:xfrm>
          <a:prstGeom prst="rect">
            <a:avLst/>
          </a:prstGeom>
          <a:solidFill>
            <a:schemeClr val="bg1"/>
          </a:solidFill>
          <a:ln w="9525">
            <a:solidFill>
              <a:schemeClr val="accent2"/>
            </a:solidFill>
          </a:ln>
        </p:spPr>
        <p:txBody>
          <a:bodyPr wrap="square" lIns="0" tIns="0" rIns="0" bIns="0" rtlCol="0" anchor="ctr"/>
          <a:lstStyle/>
          <a:p>
            <a:pPr algn="ctr" indent="0" marL="0">
              <a:buNone/>
            </a:pPr>
            <a:r>
              <a:rPr lang="en-US" sz="1000" b="1" dirty="0">
                <a:solidFill>
                  <a:schemeClr val="accent2"/>
                </a:solidFill>
              </a:rPr>
              <a:t>PROJECTED</a:t>
            </a:r>
            <a:endParaRPr lang="en-US" sz="1000" dirty="0"/>
          </a:p>
        </p:txBody>
      </p:sp>
      <p:sp>
        <p:nvSpPr>
          <p:cNvPr id="18" name="content_139"/>
          <p:cNvSpPr txBox="1"/>
          <p:nvPr/>
        </p:nvSpPr>
        <p:spPr>
          <a:xfrm>
            <a:off x="8353349" y="2176272"/>
            <a:ext cx="3033674" cy="1728216"/>
          </a:xfrm>
          <a:prstGeom prst="rect">
            <a:avLst/>
          </a:prstGeom>
          <a:noFill/>
          <a:ln/>
        </p:spPr>
        <p:txBody>
          <a:bodyPr wrap="square" lIns="36576" tIns="36576" rIns="36576" bIns="36576" rtlCol="0" anchor="t"/>
          <a:lstStyle/>
          <a:p>
            <a:pPr indent="0" marL="0">
              <a:lnSpc>
                <a:spcPct val="105000"/>
              </a:lnSpc>
              <a:spcAft>
                <a:spcPts val="200"/>
              </a:spcAft>
              <a:buNone/>
              <a:defRPr sz="850" b="0">
                <a:solidFill>
                  <a:srgbClr val="1E293B"/>
                </a:solidFill>
                <a:latin typeface="Segoe UI"/>
              </a:defRPr>
            </a:pPr>
            <a:r>
              <a:rPr sz="850" b="0">
                <a:solidFill>
                  <a:srgbClr val="1E293B"/>
                </a:solidFill>
                <a:latin typeface="Segoe UI"/>
              </a:rPr>
              <a:t>Projected Impact across Indian MSMEs:</a:t>
            </a:r>
            <a:endParaRPr lang="en-US" sz="1400" dirty="0"/>
          </a:p>
          <a:p>
            <a:pPr>
              <a:lnSpc>
                <a:spcPct val="105000"/>
              </a:lnSpc>
              <a:spcAft>
                <a:spcPts val="200"/>
              </a:spcAft>
              <a:defRPr sz="850" b="0">
                <a:solidFill>
                  <a:srgbClr val="1E293B"/>
                </a:solidFill>
                <a:latin typeface="Segoe UI"/>
              </a:defRPr>
            </a:pPr>
            <a:r>
              <a:rPr sz="850" b="0">
                <a:solidFill>
                  <a:srgbClr val="1E293B"/>
                </a:solidFill>
                <a:latin typeface="Segoe UI"/>
              </a:rPr>
              <a:t>• 90% reduction in EMI bounce penalties</a:t>
            </a:r>
          </a:p>
          <a:p>
            <a:pPr>
              <a:lnSpc>
                <a:spcPct val="105000"/>
              </a:lnSpc>
              <a:spcAft>
                <a:spcPts val="200"/>
              </a:spcAft>
              <a:defRPr sz="850" b="0">
                <a:solidFill>
                  <a:srgbClr val="1E293B"/>
                </a:solidFill>
                <a:latin typeface="Segoe UI"/>
              </a:defRPr>
            </a:pPr>
            <a:r>
              <a:rPr sz="850" b="0">
                <a:solidFill>
                  <a:srgbClr val="1E293B"/>
                </a:solidFill>
                <a:latin typeface="Segoe UI"/>
              </a:rPr>
              <a:t>• ₹22,000–₹50,000 annual margin recovery per store</a:t>
            </a:r>
          </a:p>
          <a:p>
            <a:pPr>
              <a:lnSpc>
                <a:spcPct val="105000"/>
              </a:lnSpc>
              <a:spcAft>
                <a:spcPts val="200"/>
              </a:spcAft>
              <a:defRPr sz="850" b="0">
                <a:solidFill>
                  <a:srgbClr val="1E293B"/>
                </a:solidFill>
                <a:latin typeface="Segoe UI"/>
              </a:defRPr>
            </a:pPr>
            <a:r>
              <a:rPr sz="850" b="0">
                <a:solidFill>
                  <a:srgbClr val="1E293B"/>
                </a:solidFill>
                <a:latin typeface="Segoe UI"/>
              </a:rPr>
              <a:t>• 3.5x higher formal credit approval rates</a:t>
            </a:r>
          </a:p>
          <a:p>
            <a:pPr>
              <a:lnSpc>
                <a:spcPct val="105000"/>
              </a:lnSpc>
              <a:spcAft>
                <a:spcPts val="200"/>
              </a:spcAft>
              <a:defRPr sz="850" b="0">
                <a:solidFill>
                  <a:srgbClr val="1E293B"/>
                </a:solidFill>
                <a:latin typeface="Segoe UI"/>
              </a:defRPr>
            </a:pPr>
            <a:r>
              <a:rPr sz="850" b="0">
                <a:solidFill>
                  <a:srgbClr val="1E293B"/>
                </a:solidFill>
                <a:latin typeface="Segoe UI"/>
              </a:rPr>
              <a:t>• Faster trade receivables collection via WhatsApp</a:t>
            </a:r>
          </a:p>
        </p:txBody>
      </p:sp>
      <p:sp>
        <p:nvSpPr>
          <p:cNvPr id="19" name="metrics_panel_140"/>
          <p:cNvSpPr/>
          <p:nvPr/>
        </p:nvSpPr>
        <p:spPr>
          <a:xfrm>
            <a:off x="548640" y="4434840"/>
            <a:ext cx="11094415" cy="1645920"/>
          </a:xfrm>
          <a:prstGeom prst="rect">
            <a:avLst/>
          </a:prstGeom>
          <a:solidFill>
            <a:schemeClr val="bg2"/>
          </a:solidFill>
          <a:ln/>
        </p:spPr>
      </p:sp>
      <p:sp>
        <p:nvSpPr>
          <p:cNvPr id="20" name="marker_141"/>
          <p:cNvSpPr/>
          <p:nvPr/>
        </p:nvSpPr>
        <p:spPr>
          <a:xfrm>
            <a:off x="804672" y="4782312"/>
            <a:ext cx="91440" cy="91440"/>
          </a:xfrm>
          <a:prstGeom prst="rect">
            <a:avLst/>
          </a:prstGeom>
          <a:solidFill>
            <a:schemeClr val="accent2"/>
          </a:solidFill>
          <a:ln/>
        </p:spPr>
      </p:sp>
      <p:sp>
        <p:nvSpPr>
          <p:cNvPr id="21" name="label_142"/>
          <p:cNvSpPr txBox="1"/>
          <p:nvPr/>
        </p:nvSpPr>
        <p:spPr>
          <a:xfrm>
            <a:off x="987552" y="4690872"/>
            <a:ext cx="2011680" cy="274320"/>
          </a:xfrm>
          <a:prstGeom prst="rect">
            <a:avLst/>
          </a:prstGeom>
          <a:noFill/>
          <a:ln/>
        </p:spPr>
        <p:txBody>
          <a:bodyPr wrap="square" lIns="0" tIns="0" rIns="0" bIns="0" rtlCol="0" anchor="ctr"/>
          <a:lstStyle/>
          <a:p>
            <a:pPr indent="0" marL="0">
              <a:buNone/>
            </a:pPr>
            <a:r>
              <a:rPr lang="en-US" sz="1400" b="1" dirty="0">
                <a:solidFill>
                  <a:schemeClr val="tx2"/>
                </a:solidFill>
              </a:rPr>
              <a:t>Key Metrics</a:t>
            </a:r>
            <a:endParaRPr lang="en-US" sz="1400" dirty="0"/>
          </a:p>
        </p:txBody>
      </p:sp>
      <p:sp>
        <p:nvSpPr>
          <p:cNvPr id="22" name="hint_143"/>
          <p:cNvSpPr txBox="1"/>
          <p:nvPr/>
        </p:nvSpPr>
        <p:spPr>
          <a:xfrm>
            <a:off x="804672" y="5093208"/>
            <a:ext cx="2194560" cy="731520"/>
          </a:xfrm>
          <a:prstGeom prst="rect">
            <a:avLst/>
          </a:prstGeom>
          <a:noFill/>
          <a:ln/>
        </p:spPr>
        <p:txBody>
          <a:bodyPr wrap="square" lIns="0" tIns="0" rIns="0" bIns="0" rtlCol="0" anchor="t"/>
          <a:lstStyle/>
          <a:p/>
        </p:txBody>
      </p:sp>
      <p:sp>
        <p:nvSpPr>
          <p:cNvPr id="23" name="kpi_144"/>
          <p:cNvSpPr/>
          <p:nvPr/>
        </p:nvSpPr>
        <p:spPr>
          <a:xfrm>
            <a:off x="3246120" y="4636008"/>
            <a:ext cx="2570378" cy="1243584"/>
          </a:xfrm>
          <a:prstGeom prst="rect">
            <a:avLst/>
          </a:prstGeom>
          <a:solidFill>
            <a:schemeClr val="bg1"/>
          </a:solidFill>
          <a:ln w="9525">
            <a:solidFill>
              <a:schemeClr val="accent5"/>
            </a:solidFill>
            <a:prstDash val="solid"/>
          </a:ln>
        </p:spPr>
      </p:sp>
      <p:sp>
        <p:nvSpPr>
          <p:cNvPr id="24" name="kpi_name_145"/>
          <p:cNvSpPr txBox="1"/>
          <p:nvPr/>
        </p:nvSpPr>
        <p:spPr>
          <a:xfrm>
            <a:off x="3447288" y="4773168"/>
            <a:ext cx="2168042" cy="256032"/>
          </a:xfrm>
          <a:prstGeom prst="rect">
            <a:avLst/>
          </a:prstGeom>
          <a:noFill/>
          <a:ln/>
        </p:spPr>
        <p:txBody>
          <a:bodyPr wrap="square" lIns="36576" tIns="36576" rIns="36576" bIns="36576" rtlCol="0" anchor="ctr"/>
          <a:lstStyle/>
          <a:p>
            <a:pPr indent="0" marL="0">
              <a:lnSpc>
                <a:spcPct val="110000"/>
              </a:lnSpc>
              <a:spcAft>
                <a:spcPts val="0"/>
              </a:spcAft>
              <a:buNone/>
              <a:defRPr sz="900" b="1">
                <a:solidFill>
                  <a:srgbClr val="232F3E"/>
                </a:solidFill>
                <a:latin typeface="Segoe UI"/>
              </a:defRPr>
            </a:pPr>
            <a:r>
              <a:rPr sz="900" b="1">
                <a:solidFill>
                  <a:srgbClr val="232F3E"/>
                </a:solidFill>
                <a:latin typeface="Segoe UI"/>
              </a:rPr>
              <a:t>Price Creep Detected</a:t>
            </a:r>
            <a:endParaRPr lang="en-US" sz="1200" dirty="0"/>
          </a:p>
        </p:txBody>
      </p:sp>
      <p:sp>
        <p:nvSpPr>
          <p:cNvPr id="25" name="kpi_value_146"/>
          <p:cNvSpPr txBox="1"/>
          <p:nvPr/>
        </p:nvSpPr>
        <p:spPr>
          <a:xfrm>
            <a:off x="3447288" y="5047488"/>
            <a:ext cx="2168042" cy="502920"/>
          </a:xfrm>
          <a:prstGeom prst="rect">
            <a:avLst/>
          </a:prstGeom>
          <a:noFill/>
          <a:ln/>
        </p:spPr>
        <p:txBody>
          <a:bodyPr wrap="square" lIns="36576" tIns="36576" rIns="36576" bIns="36576" rtlCol="0" anchor="ctr"/>
          <a:lstStyle/>
          <a:p>
            <a:pPr indent="0" marL="0">
              <a:lnSpc>
                <a:spcPct val="110000"/>
              </a:lnSpc>
              <a:spcAft>
                <a:spcPts val="0"/>
              </a:spcAft>
              <a:buNone/>
              <a:defRPr sz="1300" b="1">
                <a:solidFill>
                  <a:srgbClr val="146EB4"/>
                </a:solidFill>
                <a:latin typeface="Segoe UI"/>
              </a:defRPr>
            </a:pPr>
            <a:pPr indent="0" marL="0">
              <a:buNone/>
            </a:pPr>
            <a:r>
              <a:rPr sz="1300" b="1">
                <a:solidFill>
                  <a:srgbClr val="146EB4"/>
                </a:solidFill>
                <a:latin typeface="Segoe UI"/>
              </a:rPr>
              <a:t>+4.3% Creep</a:t>
            </a:r>
            <a:endParaRPr lang="en-US" sz="2600" dirty="0"/>
          </a:p>
        </p:txBody>
      </p:sp>
      <p:sp>
        <p:nvSpPr>
          <p:cNvPr id="26" name="kpi_type_147"/>
          <p:cNvSpPr txBox="1"/>
          <p:nvPr/>
        </p:nvSpPr>
        <p:spPr>
          <a:xfrm>
            <a:off x="3447288" y="5550408"/>
            <a:ext cx="2168042" cy="219456"/>
          </a:xfrm>
          <a:prstGeom prst="rect">
            <a:avLst/>
          </a:prstGeom>
          <a:noFill/>
          <a:ln/>
        </p:spPr>
        <p:txBody>
          <a:bodyPr wrap="square" lIns="36576" tIns="36576" rIns="36576" bIns="36576" rtlCol="0" anchor="ctr"/>
          <a:lstStyle/>
          <a:p>
            <a:pPr indent="0" marL="0">
              <a:lnSpc>
                <a:spcPct val="110000"/>
              </a:lnSpc>
              <a:spcAft>
                <a:spcPts val="0"/>
              </a:spcAft>
              <a:buNone/>
              <a:defRPr sz="800" b="0">
                <a:solidFill>
                  <a:srgbClr val="64748B"/>
                </a:solidFill>
                <a:latin typeface="Segoe UI"/>
              </a:defRPr>
            </a:pPr>
            <a:r>
              <a:rPr sz="800" b="0">
                <a:solidFill>
                  <a:srgbClr val="64748B"/>
                </a:solidFill>
                <a:latin typeface="Segoe UI"/>
              </a:rPr>
              <a:t>Measured (Demonstrated)</a:t>
            </a:r>
            <a:endParaRPr lang="en-US" sz="1000" dirty="0"/>
          </a:p>
        </p:txBody>
      </p:sp>
      <p:sp>
        <p:nvSpPr>
          <p:cNvPr id="27" name="kpi_148"/>
          <p:cNvSpPr/>
          <p:nvPr/>
        </p:nvSpPr>
        <p:spPr>
          <a:xfrm>
            <a:off x="6045098" y="4636008"/>
            <a:ext cx="2570378" cy="1243584"/>
          </a:xfrm>
          <a:prstGeom prst="rect">
            <a:avLst/>
          </a:prstGeom>
          <a:solidFill>
            <a:schemeClr val="bg1"/>
          </a:solidFill>
          <a:ln w="9525">
            <a:solidFill>
              <a:schemeClr val="accent5"/>
            </a:solidFill>
            <a:prstDash val="solid"/>
          </a:ln>
        </p:spPr>
      </p:sp>
      <p:sp>
        <p:nvSpPr>
          <p:cNvPr id="28" name="kpi_name_149"/>
          <p:cNvSpPr txBox="1"/>
          <p:nvPr/>
        </p:nvSpPr>
        <p:spPr>
          <a:xfrm>
            <a:off x="6246266" y="4773168"/>
            <a:ext cx="2168042" cy="256032"/>
          </a:xfrm>
          <a:prstGeom prst="rect">
            <a:avLst/>
          </a:prstGeom>
          <a:noFill/>
          <a:ln/>
        </p:spPr>
        <p:txBody>
          <a:bodyPr wrap="square" lIns="36576" tIns="36576" rIns="36576" bIns="36576" rtlCol="0" anchor="ctr"/>
          <a:lstStyle/>
          <a:p>
            <a:pPr indent="0" marL="0">
              <a:lnSpc>
                <a:spcPct val="110000"/>
              </a:lnSpc>
              <a:spcAft>
                <a:spcPts val="0"/>
              </a:spcAft>
              <a:buNone/>
              <a:defRPr sz="900" b="1">
                <a:solidFill>
                  <a:srgbClr val="232F3E"/>
                </a:solidFill>
                <a:latin typeface="Segoe UI"/>
              </a:defRPr>
            </a:pPr>
            <a:r>
              <a:rPr sz="900" b="1">
                <a:solidFill>
                  <a:srgbClr val="232F3E"/>
                </a:solidFill>
                <a:latin typeface="Segoe UI"/>
              </a:rPr>
              <a:t>Early Warning Lead Time</a:t>
            </a:r>
            <a:endParaRPr lang="en-US" sz="1200" dirty="0"/>
          </a:p>
        </p:txBody>
      </p:sp>
      <p:sp>
        <p:nvSpPr>
          <p:cNvPr id="29" name="kpi_value_150"/>
          <p:cNvSpPr txBox="1"/>
          <p:nvPr/>
        </p:nvSpPr>
        <p:spPr>
          <a:xfrm>
            <a:off x="6246266" y="5047488"/>
            <a:ext cx="2168042" cy="502920"/>
          </a:xfrm>
          <a:prstGeom prst="rect">
            <a:avLst/>
          </a:prstGeom>
          <a:noFill/>
          <a:ln/>
        </p:spPr>
        <p:txBody>
          <a:bodyPr wrap="square" lIns="36576" tIns="36576" rIns="36576" bIns="36576" rtlCol="0" anchor="ctr"/>
          <a:lstStyle/>
          <a:p>
            <a:pPr indent="0" marL="0">
              <a:lnSpc>
                <a:spcPct val="110000"/>
              </a:lnSpc>
              <a:spcAft>
                <a:spcPts val="0"/>
              </a:spcAft>
              <a:buNone/>
              <a:defRPr sz="1300" b="1">
                <a:solidFill>
                  <a:srgbClr val="146EB4"/>
                </a:solidFill>
                <a:latin typeface="Segoe UI"/>
              </a:defRPr>
            </a:pPr>
            <a:pPr indent="0" marL="0">
              <a:buNone/>
            </a:pPr>
            <a:r>
              <a:rPr sz="1300" b="1">
                <a:solidFill>
                  <a:srgbClr val="146EB4"/>
                </a:solidFill>
                <a:latin typeface="Segoe UI"/>
              </a:rPr>
              <a:t>18 Days Advance</a:t>
            </a:r>
            <a:endParaRPr lang="en-US" sz="2600" dirty="0"/>
          </a:p>
        </p:txBody>
      </p:sp>
      <p:sp>
        <p:nvSpPr>
          <p:cNvPr id="30" name="kpi_type_151"/>
          <p:cNvSpPr txBox="1"/>
          <p:nvPr/>
        </p:nvSpPr>
        <p:spPr>
          <a:xfrm>
            <a:off x="6246266" y="5550408"/>
            <a:ext cx="2168042" cy="219456"/>
          </a:xfrm>
          <a:prstGeom prst="rect">
            <a:avLst/>
          </a:prstGeom>
          <a:noFill/>
          <a:ln/>
        </p:spPr>
        <p:txBody>
          <a:bodyPr wrap="square" lIns="36576" tIns="36576" rIns="36576" bIns="36576" rtlCol="0" anchor="ctr"/>
          <a:lstStyle/>
          <a:p>
            <a:pPr indent="0" marL="0">
              <a:lnSpc>
                <a:spcPct val="110000"/>
              </a:lnSpc>
              <a:spcAft>
                <a:spcPts val="0"/>
              </a:spcAft>
              <a:buNone/>
              <a:defRPr sz="800" b="0">
                <a:solidFill>
                  <a:srgbClr val="64748B"/>
                </a:solidFill>
                <a:latin typeface="Segoe UI"/>
              </a:defRPr>
            </a:pPr>
            <a:r>
              <a:rPr sz="800" b="0">
                <a:solidFill>
                  <a:srgbClr val="64748B"/>
                </a:solidFill>
                <a:latin typeface="Segoe UI"/>
              </a:rPr>
              <a:t>Measured (Demonstrated)</a:t>
            </a:r>
            <a:endParaRPr lang="en-US" sz="1000" dirty="0"/>
          </a:p>
        </p:txBody>
      </p:sp>
      <p:sp>
        <p:nvSpPr>
          <p:cNvPr id="31" name="kpi_152"/>
          <p:cNvSpPr/>
          <p:nvPr/>
        </p:nvSpPr>
        <p:spPr>
          <a:xfrm>
            <a:off x="8844077" y="4636008"/>
            <a:ext cx="2570378" cy="1243584"/>
          </a:xfrm>
          <a:prstGeom prst="rect">
            <a:avLst/>
          </a:prstGeom>
          <a:solidFill>
            <a:schemeClr val="bg1"/>
          </a:solidFill>
          <a:ln w="9525">
            <a:solidFill>
              <a:schemeClr val="accent5"/>
            </a:solidFill>
            <a:prstDash val="solid"/>
          </a:ln>
        </p:spPr>
      </p:sp>
      <p:sp>
        <p:nvSpPr>
          <p:cNvPr id="32" name="kpi_name_153"/>
          <p:cNvSpPr txBox="1"/>
          <p:nvPr/>
        </p:nvSpPr>
        <p:spPr>
          <a:xfrm>
            <a:off x="9045245" y="4773168"/>
            <a:ext cx="2168042" cy="256032"/>
          </a:xfrm>
          <a:prstGeom prst="rect">
            <a:avLst/>
          </a:prstGeom>
          <a:noFill/>
          <a:ln/>
        </p:spPr>
        <p:txBody>
          <a:bodyPr wrap="square" lIns="36576" tIns="36576" rIns="36576" bIns="36576" rtlCol="0" anchor="ctr"/>
          <a:lstStyle/>
          <a:p>
            <a:pPr indent="0" marL="0">
              <a:lnSpc>
                <a:spcPct val="110000"/>
              </a:lnSpc>
              <a:spcAft>
                <a:spcPts val="0"/>
              </a:spcAft>
              <a:buNone/>
              <a:defRPr sz="900" b="1">
                <a:solidFill>
                  <a:srgbClr val="232F3E"/>
                </a:solidFill>
                <a:latin typeface="Segoe UI"/>
              </a:defRPr>
            </a:pPr>
            <a:r>
              <a:rPr sz="900" b="1">
                <a:solidFill>
                  <a:srgbClr val="232F3E"/>
                </a:solidFill>
                <a:latin typeface="Segoe UI"/>
              </a:rPr>
              <a:t>Monthly Sourcing Recovery</a:t>
            </a:r>
            <a:endParaRPr lang="en-US" sz="1200" dirty="0"/>
          </a:p>
        </p:txBody>
      </p:sp>
      <p:sp>
        <p:nvSpPr>
          <p:cNvPr id="33" name="kpi_value_154"/>
          <p:cNvSpPr txBox="1"/>
          <p:nvPr/>
        </p:nvSpPr>
        <p:spPr>
          <a:xfrm>
            <a:off x="9045245" y="5047488"/>
            <a:ext cx="2168042" cy="502920"/>
          </a:xfrm>
          <a:prstGeom prst="rect">
            <a:avLst/>
          </a:prstGeom>
          <a:noFill/>
          <a:ln/>
        </p:spPr>
        <p:txBody>
          <a:bodyPr wrap="square" lIns="36576" tIns="36576" rIns="36576" bIns="36576" rtlCol="0" anchor="ctr"/>
          <a:lstStyle/>
          <a:p>
            <a:pPr indent="0" marL="0">
              <a:lnSpc>
                <a:spcPct val="110000"/>
              </a:lnSpc>
              <a:spcAft>
                <a:spcPts val="0"/>
              </a:spcAft>
              <a:buNone/>
              <a:defRPr sz="1300" b="1">
                <a:solidFill>
                  <a:srgbClr val="146EB4"/>
                </a:solidFill>
                <a:latin typeface="Segoe UI"/>
              </a:defRPr>
            </a:pPr>
            <a:pPr indent="0" marL="0">
              <a:buNone/>
            </a:pPr>
            <a:r>
              <a:rPr sz="1300" b="1">
                <a:solidFill>
                  <a:srgbClr val="146EB4"/>
                </a:solidFill>
                <a:latin typeface="Segoe UI"/>
              </a:rPr>
              <a:t>₹1,880 /month</a:t>
            </a:r>
            <a:endParaRPr lang="en-US" sz="2600" dirty="0"/>
          </a:p>
        </p:txBody>
      </p:sp>
      <p:sp>
        <p:nvSpPr>
          <p:cNvPr id="34" name="kpi_type_155"/>
          <p:cNvSpPr txBox="1"/>
          <p:nvPr/>
        </p:nvSpPr>
        <p:spPr>
          <a:xfrm>
            <a:off x="9045245" y="5550408"/>
            <a:ext cx="2168042" cy="219456"/>
          </a:xfrm>
          <a:prstGeom prst="rect">
            <a:avLst/>
          </a:prstGeom>
          <a:noFill/>
          <a:ln/>
        </p:spPr>
        <p:txBody>
          <a:bodyPr wrap="square" lIns="36576" tIns="36576" rIns="36576" bIns="36576" rtlCol="0" anchor="ctr"/>
          <a:lstStyle/>
          <a:p>
            <a:pPr indent="0" marL="0">
              <a:lnSpc>
                <a:spcPct val="110000"/>
              </a:lnSpc>
              <a:spcAft>
                <a:spcPts val="0"/>
              </a:spcAft>
              <a:buNone/>
              <a:defRPr sz="800" b="0">
                <a:solidFill>
                  <a:srgbClr val="64748B"/>
                </a:solidFill>
                <a:latin typeface="Segoe UI"/>
              </a:defRPr>
            </a:pPr>
            <a:r>
              <a:rPr sz="800" b="0">
                <a:solidFill>
                  <a:srgbClr val="64748B"/>
                </a:solidFill>
                <a:latin typeface="Segoe UI"/>
              </a:rPr>
              <a:t>Measured (Demonstrated)</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731520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08  —  ROADMAP</a:t>
            </a:r>
            <a:endParaRPr lang="en-US" sz="1100" dirty="0"/>
          </a:p>
        </p:txBody>
      </p:sp>
      <p:sp>
        <p:nvSpPr>
          <p:cNvPr id="3" name="Text 3"/>
          <p:cNvSpPr/>
          <p:nvPr>
            <p:ph idx="104" type="title" hasCustomPrompt="1"/>
          </p:nvPr>
        </p:nvSpPr>
        <p:spPr>
          <a:xfrm>
            <a:off x="548640" y="640080"/>
            <a:ext cx="10058400" cy="566928"/>
          </a:xfrm>
          <a:prstGeom prst="rect">
            <a:avLst/>
          </a:prstGeom>
          <a:noFill/>
          <a:ln/>
        </p:spPr>
        <p:txBody>
          <a:bodyPr wrap="square" lIns="0" tIns="0" rIns="0" bIns="0" rtlCol="0" anchor="ctr"/>
          <a:lstStyle/>
          <a:p>
            <a:pPr algn="l" indent="0" marL="0">
              <a:buNone/>
            </a:pPr>
            <a:r>
              <a:rPr lang="en-US" sz="3000" b="1" dirty="0">
                <a:solidFill>
                  <a:schemeClr val="tx2"/>
                </a:solidFill>
              </a:rPr>
              <a:t>Roadmap &amp; Scalability</a:t>
            </a:r>
            <a:endParaRPr lang="en-US" sz="3000" dirty="0"/>
          </a:p>
        </p:txBody>
      </p:sp>
      <p:sp>
        <p:nvSpPr>
          <p:cNvPr id="5" name="roadmap_band_156"/>
          <p:cNvSpPr/>
          <p:nvPr/>
        </p:nvSpPr>
        <p:spPr>
          <a:xfrm>
            <a:off x="548640" y="1508760"/>
            <a:ext cx="11094415" cy="1783080"/>
          </a:xfrm>
          <a:prstGeom prst="rect">
            <a:avLst/>
          </a:prstGeom>
          <a:solidFill>
            <a:schemeClr val="bg2"/>
          </a:solidFill>
          <a:ln/>
        </p:spPr>
      </p:sp>
      <p:sp>
        <p:nvSpPr>
          <p:cNvPr id="6" name="roadmap_connector_157"/>
          <p:cNvSpPr/>
          <p:nvPr/>
        </p:nvSpPr>
        <p:spPr>
          <a:xfrm>
            <a:off x="2659837" y="1965960"/>
            <a:ext cx="3097682" cy="0"/>
          </a:xfrm>
          <a:prstGeom prst="line">
            <a:avLst/>
          </a:prstGeom>
          <a:noFill/>
          <a:ln w="19050">
            <a:solidFill>
              <a:schemeClr val="accent1"/>
            </a:solidFill>
            <a:prstDash val="solid"/>
            <a:tailEnd type="triangle"/>
          </a:ln>
        </p:spPr>
      </p:sp>
      <p:sp>
        <p:nvSpPr>
          <p:cNvPr id="7" name="roadmap_connector_158"/>
          <p:cNvSpPr/>
          <p:nvPr/>
        </p:nvSpPr>
        <p:spPr>
          <a:xfrm>
            <a:off x="6434176" y="1965960"/>
            <a:ext cx="3097682" cy="0"/>
          </a:xfrm>
          <a:prstGeom prst="line">
            <a:avLst/>
          </a:prstGeom>
          <a:noFill/>
          <a:ln w="19050">
            <a:solidFill>
              <a:schemeClr val="accent1"/>
            </a:solidFill>
            <a:prstDash val="solid"/>
            <a:tailEnd type="triangle"/>
          </a:ln>
        </p:spPr>
      </p:sp>
      <p:sp>
        <p:nvSpPr>
          <p:cNvPr id="8" name="stage_num_159"/>
          <p:cNvSpPr/>
          <p:nvPr/>
        </p:nvSpPr>
        <p:spPr>
          <a:xfrm>
            <a:off x="2092909" y="173736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stage_160"/>
          <p:cNvSpPr txBox="1"/>
          <p:nvPr/>
        </p:nvSpPr>
        <p:spPr>
          <a:xfrm>
            <a:off x="731520" y="2313432"/>
            <a:ext cx="3179978" cy="274320"/>
          </a:xfrm>
          <a:prstGeom prst="rect">
            <a:avLst/>
          </a:prstGeom>
          <a:noFill/>
          <a:ln/>
        </p:spPr>
        <p:txBody>
          <a:bodyPr wrap="square" lIns="36576" tIns="36576" rIns="36576" bIns="36576" rtlCol="0" anchor="ctr"/>
          <a:lstStyle/>
          <a:p>
            <a:pPr algn="ctr" indent="0" marL="0">
              <a:lnSpc>
                <a:spcPct val="110000"/>
              </a:lnSpc>
              <a:spcAft>
                <a:spcPts val="0"/>
              </a:spcAft>
              <a:buNone/>
              <a:defRPr sz="1000" b="1">
                <a:solidFill>
                  <a:srgbClr val="232F3E"/>
                </a:solidFill>
                <a:latin typeface="Segoe UI"/>
              </a:defRPr>
            </a:pPr>
            <a:r>
              <a:rPr sz="1000" b="1">
                <a:solidFill>
                  <a:srgbClr val="232F3E"/>
                </a:solidFill>
                <a:latin typeface="Segoe UI"/>
              </a:rPr>
              <a:t>Phase 1: Hackathon MVP</a:t>
            </a:r>
            <a:endParaRPr lang="en-US" sz="1400" dirty="0"/>
          </a:p>
        </p:txBody>
      </p:sp>
      <p:sp>
        <p:nvSpPr>
          <p:cNvPr id="10" name="stage_desc_161"/>
          <p:cNvSpPr txBox="1"/>
          <p:nvPr/>
        </p:nvSpPr>
        <p:spPr>
          <a:xfrm>
            <a:off x="731520" y="2624328"/>
            <a:ext cx="3179978" cy="411480"/>
          </a:xfrm>
          <a:prstGeom prst="rect">
            <a:avLst/>
          </a:prstGeom>
          <a:noFill/>
          <a:ln/>
        </p:spPr>
        <p:txBody>
          <a:bodyPr wrap="square" lIns="36576" tIns="36576" rIns="36576" bIns="36576" rtlCol="0" anchor="t"/>
          <a:lstStyle/>
          <a:p>
            <a:pPr algn="ctr" indent="0" marL="0">
              <a:lnSpc>
                <a:spcPct val="102000"/>
              </a:lnSpc>
              <a:spcAft>
                <a:spcPts val="0"/>
              </a:spcAft>
              <a:buNone/>
              <a:defRPr sz="800" b="0">
                <a:solidFill>
                  <a:srgbClr val="1E293B"/>
                </a:solidFill>
                <a:latin typeface="Segoe UI"/>
              </a:defRPr>
            </a:pPr>
            <a:r>
              <a:rPr sz="800" b="0">
                <a:solidFill>
                  <a:srgbClr val="1E293B"/>
                </a:solidFill>
                <a:latin typeface="Segoe UI"/>
              </a:rPr>
              <a:t>Complete: 10-State AWS Step Functions engine, Aurora SQL ledger, Textract OCR, and Amazon SNS dispatcher.</a:t>
            </a:r>
            <a:endParaRPr lang="en-US" sz="1200" dirty="0"/>
          </a:p>
        </p:txBody>
      </p:sp>
      <p:sp>
        <p:nvSpPr>
          <p:cNvPr id="11" name="stage_num_162"/>
          <p:cNvSpPr/>
          <p:nvPr/>
        </p:nvSpPr>
        <p:spPr>
          <a:xfrm>
            <a:off x="5867248" y="173736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stage_163"/>
          <p:cNvSpPr txBox="1"/>
          <p:nvPr/>
        </p:nvSpPr>
        <p:spPr>
          <a:xfrm>
            <a:off x="4505858" y="2313432"/>
            <a:ext cx="3179978" cy="274320"/>
          </a:xfrm>
          <a:prstGeom prst="rect">
            <a:avLst/>
          </a:prstGeom>
          <a:noFill/>
          <a:ln/>
        </p:spPr>
        <p:txBody>
          <a:bodyPr wrap="square" lIns="36576" tIns="36576" rIns="36576" bIns="36576" rtlCol="0" anchor="ctr"/>
          <a:lstStyle/>
          <a:p>
            <a:pPr algn="ctr" indent="0" marL="0">
              <a:lnSpc>
                <a:spcPct val="110000"/>
              </a:lnSpc>
              <a:spcAft>
                <a:spcPts val="0"/>
              </a:spcAft>
              <a:buNone/>
              <a:defRPr sz="1000" b="1">
                <a:solidFill>
                  <a:srgbClr val="232F3E"/>
                </a:solidFill>
                <a:latin typeface="Segoe UI"/>
              </a:defRPr>
            </a:pPr>
            <a:r>
              <a:rPr sz="1000" b="1">
                <a:solidFill>
                  <a:srgbClr val="232F3E"/>
                </a:solidFill>
                <a:latin typeface="Segoe UI"/>
              </a:rPr>
              <a:t>Phase 2: Pilot Deployment</a:t>
            </a:r>
            <a:endParaRPr lang="en-US" sz="1400" dirty="0"/>
          </a:p>
        </p:txBody>
      </p:sp>
      <p:sp>
        <p:nvSpPr>
          <p:cNvPr id="13" name="stage_desc_164"/>
          <p:cNvSpPr txBox="1"/>
          <p:nvPr/>
        </p:nvSpPr>
        <p:spPr>
          <a:xfrm>
            <a:off x="4505858" y="2624328"/>
            <a:ext cx="3179978" cy="411480"/>
          </a:xfrm>
          <a:prstGeom prst="rect">
            <a:avLst/>
          </a:prstGeom>
          <a:noFill/>
          <a:ln/>
        </p:spPr>
        <p:txBody>
          <a:bodyPr wrap="square" lIns="36576" tIns="36576" rIns="36576" bIns="36576" rtlCol="0" anchor="t"/>
          <a:lstStyle/>
          <a:p>
            <a:pPr algn="ctr" indent="0" marL="0">
              <a:lnSpc>
                <a:spcPct val="102000"/>
              </a:lnSpc>
              <a:spcAft>
                <a:spcPts val="0"/>
              </a:spcAft>
              <a:buNone/>
              <a:defRPr sz="800" b="0">
                <a:solidFill>
                  <a:srgbClr val="1E293B"/>
                </a:solidFill>
                <a:latin typeface="Segoe UI"/>
              </a:defRPr>
            </a:pPr>
            <a:r>
              <a:rPr sz="800" b="0">
                <a:solidFill>
                  <a:srgbClr val="1E293B"/>
                </a:solidFill>
                <a:latin typeface="Segoe UI"/>
              </a:rPr>
              <a:t>Next 3 Months: Field pilot with 50 Bangalore Kirana stores; 1-click TReDS discounting gateway; WhatsApp bot.</a:t>
            </a:r>
            <a:endParaRPr lang="en-US" sz="1200" dirty="0"/>
          </a:p>
        </p:txBody>
      </p:sp>
      <p:sp>
        <p:nvSpPr>
          <p:cNvPr id="14" name="stage_num_165"/>
          <p:cNvSpPr/>
          <p:nvPr/>
        </p:nvSpPr>
        <p:spPr>
          <a:xfrm>
            <a:off x="9641586" y="1737360"/>
            <a:ext cx="457200" cy="457200"/>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stage_166"/>
          <p:cNvSpPr txBox="1"/>
          <p:nvPr/>
        </p:nvSpPr>
        <p:spPr>
          <a:xfrm>
            <a:off x="8280197" y="2313432"/>
            <a:ext cx="3179978" cy="274320"/>
          </a:xfrm>
          <a:prstGeom prst="rect">
            <a:avLst/>
          </a:prstGeom>
          <a:noFill/>
          <a:ln/>
        </p:spPr>
        <p:txBody>
          <a:bodyPr wrap="square" lIns="36576" tIns="36576" rIns="36576" bIns="36576" rtlCol="0" anchor="ctr"/>
          <a:lstStyle/>
          <a:p>
            <a:pPr algn="ctr" indent="0" marL="0">
              <a:lnSpc>
                <a:spcPct val="110000"/>
              </a:lnSpc>
              <a:spcAft>
                <a:spcPts val="0"/>
              </a:spcAft>
              <a:buNone/>
              <a:defRPr sz="1000" b="1">
                <a:solidFill>
                  <a:srgbClr val="232F3E"/>
                </a:solidFill>
                <a:latin typeface="Segoe UI"/>
              </a:defRPr>
            </a:pPr>
            <a:r>
              <a:rPr sz="1000" b="1">
                <a:solidFill>
                  <a:srgbClr val="232F3E"/>
                </a:solidFill>
                <a:latin typeface="Segoe UI"/>
              </a:rPr>
              <a:t>Phase 3: National Scale</a:t>
            </a:r>
            <a:endParaRPr lang="en-US" sz="1400" dirty="0"/>
          </a:p>
        </p:txBody>
      </p:sp>
      <p:sp>
        <p:nvSpPr>
          <p:cNvPr id="16" name="stage_desc_167"/>
          <p:cNvSpPr txBox="1"/>
          <p:nvPr/>
        </p:nvSpPr>
        <p:spPr>
          <a:xfrm>
            <a:off x="8280197" y="2624328"/>
            <a:ext cx="3179978" cy="411480"/>
          </a:xfrm>
          <a:prstGeom prst="rect">
            <a:avLst/>
          </a:prstGeom>
          <a:noFill/>
          <a:ln/>
        </p:spPr>
        <p:txBody>
          <a:bodyPr wrap="square" lIns="36576" tIns="36576" rIns="36576" bIns="36576" rtlCol="0" anchor="t"/>
          <a:lstStyle/>
          <a:p>
            <a:pPr algn="ctr" indent="0" marL="0">
              <a:lnSpc>
                <a:spcPct val="102000"/>
              </a:lnSpc>
              <a:spcAft>
                <a:spcPts val="0"/>
              </a:spcAft>
              <a:buNone/>
              <a:defRPr sz="800" b="0">
                <a:solidFill>
                  <a:srgbClr val="1E293B"/>
                </a:solidFill>
                <a:latin typeface="Segoe UI"/>
              </a:defRPr>
            </a:pPr>
            <a:r>
              <a:rPr sz="800" b="0">
                <a:solidFill>
                  <a:srgbClr val="1E293B"/>
                </a:solidFill>
                <a:latin typeface="Segoe UI"/>
              </a:rPr>
              <a:t>6–12 Months: Banking API partnerships (Canara Bank / SBI); Account Aggregator syncing; APMC mandi syndication.</a:t>
            </a:r>
            <a:endParaRPr lang="en-US" sz="1200" dirty="0"/>
          </a:p>
        </p:txBody>
      </p:sp>
      <p:sp>
        <p:nvSpPr>
          <p:cNvPr id="17" name="card_Immediate Next Steps_168"/>
          <p:cNvSpPr/>
          <p:nvPr/>
        </p:nvSpPr>
        <p:spPr>
          <a:xfrm>
            <a:off x="548640" y="3566160"/>
            <a:ext cx="3545738" cy="2514600"/>
          </a:xfrm>
          <a:prstGeom prst="rect">
            <a:avLst/>
          </a:prstGeom>
          <a:solidFill>
            <a:schemeClr val="bg1"/>
          </a:solidFill>
          <a:ln w="12700">
            <a:solidFill>
              <a:schemeClr val="accent5"/>
            </a:solidFill>
            <a:prstDash val="solid"/>
          </a:ln>
        </p:spPr>
      </p:sp>
      <p:sp>
        <p:nvSpPr>
          <p:cNvPr id="18" name="marker_169"/>
          <p:cNvSpPr/>
          <p:nvPr/>
        </p:nvSpPr>
        <p:spPr>
          <a:xfrm>
            <a:off x="804672" y="3913632"/>
            <a:ext cx="91440" cy="91440"/>
          </a:xfrm>
          <a:prstGeom prst="rect">
            <a:avLst/>
          </a:prstGeom>
          <a:solidFill>
            <a:schemeClr val="accent2"/>
          </a:solidFill>
          <a:ln/>
        </p:spPr>
      </p:sp>
      <p:sp>
        <p:nvSpPr>
          <p:cNvPr id="19" name="label_170"/>
          <p:cNvSpPr txBox="1"/>
          <p:nvPr/>
        </p:nvSpPr>
        <p:spPr>
          <a:xfrm>
            <a:off x="987552" y="3822192"/>
            <a:ext cx="2850794" cy="274320"/>
          </a:xfrm>
          <a:prstGeom prst="rect">
            <a:avLst/>
          </a:prstGeom>
          <a:noFill/>
          <a:ln/>
        </p:spPr>
        <p:txBody>
          <a:bodyPr wrap="square" lIns="0" tIns="0" rIns="0" bIns="0" rtlCol="0" anchor="ctr"/>
          <a:lstStyle/>
          <a:p>
            <a:pPr indent="0" marL="0">
              <a:buNone/>
            </a:pPr>
            <a:r>
              <a:rPr lang="en-US" sz="1400" b="1" dirty="0">
                <a:solidFill>
                  <a:schemeClr val="tx2"/>
                </a:solidFill>
              </a:rPr>
              <a:t>Immediate Next Steps</a:t>
            </a:r>
            <a:endParaRPr lang="en-US" sz="1400" dirty="0"/>
          </a:p>
        </p:txBody>
      </p:sp>
      <p:sp>
        <p:nvSpPr>
          <p:cNvPr id="20" name="content_171"/>
          <p:cNvSpPr txBox="1"/>
          <p:nvPr/>
        </p:nvSpPr>
        <p:spPr>
          <a:xfrm>
            <a:off x="804672" y="4233672"/>
            <a:ext cx="3033674" cy="1591056"/>
          </a:xfrm>
          <a:prstGeom prst="rect">
            <a:avLst/>
          </a:prstGeom>
          <a:noFill/>
          <a:ln/>
        </p:spPr>
        <p:txBody>
          <a:bodyPr wrap="square" lIns="36576" tIns="36576" rIns="36576" bIns="36576" rtlCol="0" anchor="t"/>
          <a:lstStyle/>
          <a:p>
            <a:pPr indent="0" marL="0">
              <a:lnSpc>
                <a:spcPct val="105000"/>
              </a:lnSpc>
              <a:spcAft>
                <a:spcPts val="200"/>
              </a:spcAft>
              <a:buNone/>
              <a:defRPr sz="800" b="0">
                <a:solidFill>
                  <a:srgbClr val="1E293B"/>
                </a:solidFill>
                <a:latin typeface="Segoe UI"/>
              </a:defRPr>
            </a:pPr>
            <a:r>
              <a:rPr sz="800" b="0">
                <a:solidFill>
                  <a:srgbClr val="1E293B"/>
                </a:solidFill>
                <a:latin typeface="Segoe UI"/>
              </a:rPr>
              <a:t>1. Deploy infrastructure via AWS CDK / CloudFormation.</a:t>
            </a:r>
            <a:endParaRPr lang="en-US" sz="1400" dirty="0"/>
          </a:p>
          <a:p>
            <a:pPr>
              <a:lnSpc>
                <a:spcPct val="105000"/>
              </a:lnSpc>
              <a:spcAft>
                <a:spcPts val="200"/>
              </a:spcAft>
              <a:defRPr sz="800" b="0">
                <a:solidFill>
                  <a:srgbClr val="1E293B"/>
                </a:solidFill>
                <a:latin typeface="Segoe UI"/>
              </a:defRPr>
            </a:pPr>
            <a:r>
              <a:rPr sz="800" b="0">
                <a:solidFill>
                  <a:srgbClr val="1E293B"/>
                </a:solidFill>
                <a:latin typeface="Segoe UI"/>
              </a:rPr>
              <a:t>2. Onboard 10 pilot Kirana merchants in Indiranagar &amp; Jayanagar.</a:t>
            </a:r>
          </a:p>
          <a:p>
            <a:pPr>
              <a:lnSpc>
                <a:spcPct val="105000"/>
              </a:lnSpc>
              <a:spcAft>
                <a:spcPts val="200"/>
              </a:spcAft>
              <a:defRPr sz="800" b="0">
                <a:solidFill>
                  <a:srgbClr val="1E293B"/>
                </a:solidFill>
                <a:latin typeface="Segoe UI"/>
              </a:defRPr>
            </a:pPr>
            <a:r>
              <a:rPr sz="800" b="0">
                <a:solidFill>
                  <a:srgbClr val="1E293B"/>
                </a:solidFill>
                <a:latin typeface="Segoe UI"/>
              </a:rPr>
              <a:t>3. Integrate Account Aggregator (AA) sandbox for automated bank statement syncing.</a:t>
            </a:r>
          </a:p>
        </p:txBody>
      </p:sp>
      <p:sp>
        <p:nvSpPr>
          <p:cNvPr id="21" name="card_Scalability_172"/>
          <p:cNvSpPr/>
          <p:nvPr/>
        </p:nvSpPr>
        <p:spPr>
          <a:xfrm>
            <a:off x="4322978" y="3566160"/>
            <a:ext cx="3545738" cy="2514600"/>
          </a:xfrm>
          <a:prstGeom prst="rect">
            <a:avLst/>
          </a:prstGeom>
          <a:solidFill>
            <a:schemeClr val="bg1"/>
          </a:solidFill>
          <a:ln w="12700">
            <a:solidFill>
              <a:schemeClr val="accent5"/>
            </a:solidFill>
            <a:prstDash val="solid"/>
          </a:ln>
        </p:spPr>
      </p:sp>
      <p:sp>
        <p:nvSpPr>
          <p:cNvPr id="22" name="marker_173"/>
          <p:cNvSpPr/>
          <p:nvPr/>
        </p:nvSpPr>
        <p:spPr>
          <a:xfrm>
            <a:off x="4579010" y="3913632"/>
            <a:ext cx="91440" cy="91440"/>
          </a:xfrm>
          <a:prstGeom prst="rect">
            <a:avLst/>
          </a:prstGeom>
          <a:solidFill>
            <a:schemeClr val="accent2"/>
          </a:solidFill>
          <a:ln/>
        </p:spPr>
      </p:sp>
      <p:sp>
        <p:nvSpPr>
          <p:cNvPr id="23" name="label_174"/>
          <p:cNvSpPr txBox="1"/>
          <p:nvPr/>
        </p:nvSpPr>
        <p:spPr>
          <a:xfrm>
            <a:off x="4761890" y="3822192"/>
            <a:ext cx="2850794" cy="274320"/>
          </a:xfrm>
          <a:prstGeom prst="rect">
            <a:avLst/>
          </a:prstGeom>
          <a:noFill/>
          <a:ln/>
        </p:spPr>
        <p:txBody>
          <a:bodyPr wrap="square" lIns="0" tIns="0" rIns="0" bIns="0" rtlCol="0" anchor="ctr"/>
          <a:lstStyle/>
          <a:p>
            <a:pPr indent="0" marL="0">
              <a:buNone/>
            </a:pPr>
            <a:r>
              <a:rPr lang="en-US" sz="1400" b="1" dirty="0">
                <a:solidFill>
                  <a:schemeClr val="tx2"/>
                </a:solidFill>
              </a:rPr>
              <a:t>Scalability</a:t>
            </a:r>
            <a:endParaRPr lang="en-US" sz="1400" dirty="0"/>
          </a:p>
        </p:txBody>
      </p:sp>
      <p:sp>
        <p:nvSpPr>
          <p:cNvPr id="24" name="content_175"/>
          <p:cNvSpPr txBox="1"/>
          <p:nvPr/>
        </p:nvSpPr>
        <p:spPr>
          <a:xfrm>
            <a:off x="4579010" y="4233672"/>
            <a:ext cx="3033674" cy="1591056"/>
          </a:xfrm>
          <a:prstGeom prst="rect">
            <a:avLst/>
          </a:prstGeom>
          <a:noFill/>
          <a:ln/>
        </p:spPr>
        <p:txBody>
          <a:bodyPr wrap="square" lIns="36576" tIns="36576" rIns="36576" bIns="36576" rtlCol="0" anchor="t"/>
          <a:lstStyle/>
          <a:p>
            <a:pPr indent="0" marL="0">
              <a:lnSpc>
                <a:spcPct val="105000"/>
              </a:lnSpc>
              <a:spcAft>
                <a:spcPts val="200"/>
              </a:spcAft>
              <a:buNone/>
              <a:defRPr sz="800" b="0">
                <a:solidFill>
                  <a:srgbClr val="1E293B"/>
                </a:solidFill>
                <a:latin typeface="Segoe UI"/>
              </a:defRPr>
            </a:pPr>
            <a:r>
              <a:rPr sz="800" b="0">
                <a:solidFill>
                  <a:srgbClr val="1E293B"/>
                </a:solidFill>
                <a:latin typeface="Segoe UI"/>
              </a:rPr>
              <a:t>• Serverless: Lambda &amp; Step Functions auto-scale to 100,000+ daily bills with zero server management.</a:t>
            </a:r>
            <a:endParaRPr lang="en-US" sz="1400" dirty="0"/>
          </a:p>
          <a:p>
            <a:pPr>
              <a:lnSpc>
                <a:spcPct val="105000"/>
              </a:lnSpc>
              <a:spcAft>
                <a:spcPts val="200"/>
              </a:spcAft>
              <a:defRPr sz="800" b="0">
                <a:solidFill>
                  <a:srgbClr val="1E293B"/>
                </a:solidFill>
                <a:latin typeface="Segoe UI"/>
              </a:defRPr>
            </a:pPr>
            <a:r>
              <a:rPr sz="800" b="0">
                <a:solidFill>
                  <a:srgbClr val="1E293B"/>
                </a:solidFill>
                <a:latin typeface="Segoe UI"/>
              </a:rPr>
              <a:t>• Elastic Database: Aurora Serverless v2 scales dynamically from 0.5 to 128 ACUs.</a:t>
            </a:r>
          </a:p>
          <a:p>
            <a:pPr>
              <a:lnSpc>
                <a:spcPct val="105000"/>
              </a:lnSpc>
              <a:spcAft>
                <a:spcPts val="200"/>
              </a:spcAft>
              <a:defRPr sz="800" b="0">
                <a:solidFill>
                  <a:srgbClr val="1E293B"/>
                </a:solidFill>
                <a:latin typeface="Segoe UI"/>
              </a:defRPr>
            </a:pPr>
            <a:r>
              <a:rPr sz="800" b="0">
                <a:solidFill>
                  <a:srgbClr val="1E293B"/>
                </a:solidFill>
                <a:latin typeface="Segoe UI"/>
              </a:rPr>
              <a:t>• High-Throughput: Amazon SNS delivers alerts in &lt;350ms across India.</a:t>
            </a:r>
          </a:p>
        </p:txBody>
      </p:sp>
      <p:sp>
        <p:nvSpPr>
          <p:cNvPr id="25" name="card_Future Development_176"/>
          <p:cNvSpPr/>
          <p:nvPr/>
        </p:nvSpPr>
        <p:spPr>
          <a:xfrm>
            <a:off x="8097317" y="3566160"/>
            <a:ext cx="3545738" cy="2514600"/>
          </a:xfrm>
          <a:prstGeom prst="rect">
            <a:avLst/>
          </a:prstGeom>
          <a:solidFill>
            <a:schemeClr val="bg1"/>
          </a:solidFill>
          <a:ln w="12700">
            <a:solidFill>
              <a:schemeClr val="accent5"/>
            </a:solidFill>
            <a:prstDash val="solid"/>
          </a:ln>
        </p:spPr>
      </p:sp>
      <p:sp>
        <p:nvSpPr>
          <p:cNvPr id="26" name="marker_177"/>
          <p:cNvSpPr/>
          <p:nvPr/>
        </p:nvSpPr>
        <p:spPr>
          <a:xfrm>
            <a:off x="8353349" y="3913632"/>
            <a:ext cx="91440" cy="91440"/>
          </a:xfrm>
          <a:prstGeom prst="rect">
            <a:avLst/>
          </a:prstGeom>
          <a:solidFill>
            <a:schemeClr val="accent2"/>
          </a:solidFill>
          <a:ln/>
        </p:spPr>
      </p:sp>
      <p:sp>
        <p:nvSpPr>
          <p:cNvPr id="27" name="label_178"/>
          <p:cNvSpPr txBox="1"/>
          <p:nvPr/>
        </p:nvSpPr>
        <p:spPr>
          <a:xfrm>
            <a:off x="8536229" y="3822192"/>
            <a:ext cx="2850794" cy="274320"/>
          </a:xfrm>
          <a:prstGeom prst="rect">
            <a:avLst/>
          </a:prstGeom>
          <a:noFill/>
          <a:ln/>
        </p:spPr>
        <p:txBody>
          <a:bodyPr wrap="square" lIns="0" tIns="0" rIns="0" bIns="0" rtlCol="0" anchor="ctr"/>
          <a:lstStyle/>
          <a:p>
            <a:pPr indent="0" marL="0">
              <a:buNone/>
            </a:pPr>
            <a:r>
              <a:rPr lang="en-US" sz="1400" b="1" dirty="0">
                <a:solidFill>
                  <a:schemeClr val="tx2"/>
                </a:solidFill>
              </a:rPr>
              <a:t>Future Development</a:t>
            </a:r>
            <a:endParaRPr lang="en-US" sz="1400" dirty="0"/>
          </a:p>
        </p:txBody>
      </p:sp>
      <p:sp>
        <p:nvSpPr>
          <p:cNvPr id="28" name="content_179"/>
          <p:cNvSpPr txBox="1"/>
          <p:nvPr/>
        </p:nvSpPr>
        <p:spPr>
          <a:xfrm>
            <a:off x="8353349" y="4233672"/>
            <a:ext cx="3033674" cy="1591056"/>
          </a:xfrm>
          <a:prstGeom prst="rect">
            <a:avLst/>
          </a:prstGeom>
          <a:noFill/>
          <a:ln/>
        </p:spPr>
        <p:txBody>
          <a:bodyPr wrap="square" lIns="36576" tIns="36576" rIns="36576" bIns="36576" rtlCol="0" anchor="t"/>
          <a:lstStyle/>
          <a:p>
            <a:pPr indent="0" marL="0">
              <a:lnSpc>
                <a:spcPct val="105000"/>
              </a:lnSpc>
              <a:spcAft>
                <a:spcPts val="200"/>
              </a:spcAft>
              <a:buNone/>
              <a:defRPr sz="800" b="0">
                <a:solidFill>
                  <a:srgbClr val="1E293B"/>
                </a:solidFill>
                <a:latin typeface="Segoe UI"/>
              </a:defRPr>
            </a:pPr>
            <a:r>
              <a:rPr sz="800" b="0">
                <a:solidFill>
                  <a:srgbClr val="1E293B"/>
                </a:solidFill>
                <a:latin typeface="Segoe UI"/>
              </a:rPr>
              <a:t>• Vernacular Voice Assistant in 8 Indian languages (Kannada, Hindi, Tamil, Telugu).</a:t>
            </a:r>
            <a:endParaRPr lang="en-US" sz="1400" dirty="0"/>
          </a:p>
          <a:p>
            <a:pPr>
              <a:lnSpc>
                <a:spcPct val="105000"/>
              </a:lnSpc>
              <a:spcAft>
                <a:spcPts val="200"/>
              </a:spcAft>
              <a:defRPr sz="800" b="0">
                <a:solidFill>
                  <a:srgbClr val="1E293B"/>
                </a:solidFill>
                <a:latin typeface="Segoe UI"/>
              </a:defRPr>
            </a:pPr>
            <a:r>
              <a:rPr sz="800" b="0">
                <a:solidFill>
                  <a:srgbClr val="1E293B"/>
                </a:solidFill>
                <a:latin typeface="Segoe UI"/>
              </a:rPr>
              <a:t>• Automated GST e-Way Bill reconciliation.</a:t>
            </a:r>
          </a:p>
          <a:p>
            <a:pPr>
              <a:lnSpc>
                <a:spcPct val="105000"/>
              </a:lnSpc>
              <a:spcAft>
                <a:spcPts val="200"/>
              </a:spcAft>
              <a:defRPr sz="800" b="0">
                <a:solidFill>
                  <a:srgbClr val="1E293B"/>
                </a:solidFill>
                <a:latin typeface="Segoe UI"/>
              </a:defRPr>
            </a:pPr>
            <a:r>
              <a:rPr sz="800" b="0">
                <a:solidFill>
                  <a:srgbClr val="1E293B"/>
                </a:solidFill>
                <a:latin typeface="Segoe UI"/>
              </a:rPr>
              <a:t>• Predictive Supplier Credit Scoring for wholesale traders.</a:t>
            </a:r>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IMPULSE 26">
  <a:themeElements>
    <a:clrScheme name="IMPULSE 26">
      <a:dk1>
        <a:srgbClr val="333333"/>
      </a:dk1>
      <a:lt1>
        <a:srgbClr val="FFFFFF"/>
      </a:lt1>
      <a:dk2>
        <a:srgbClr val="232F3E"/>
      </a:dk2>
      <a:lt2>
        <a:srgbClr val="F3F5F7"/>
      </a:lt2>
      <a:accent1>
        <a:srgbClr val="146EB4"/>
      </a:accent1>
      <a:accent2>
        <a:srgbClr val="FF9900"/>
      </a:accent2>
      <a:accent3>
        <a:srgbClr val="232F3E"/>
      </a:accent3>
      <a:accent4>
        <a:srgbClr val="6B7785"/>
      </a:accent4>
      <a:accent5>
        <a:srgbClr val="D5DBE1"/>
      </a:accent5>
      <a:accent6>
        <a:srgbClr val="5A6B7D"/>
      </a:accent6>
      <a:hlink>
        <a:srgbClr val="146EB4"/>
      </a:hlink>
      <a:folHlink>
        <a:srgbClr val="5A6B7D"/>
      </a:folHlink>
    </a:clrScheme>
    <a:fontScheme name="IMPULSE 2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AWS Student Builder Group, REVA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IMPULSE '26 Pitch Deck Template</dc:title>
  <dc:subject>PptxGenJS Presentation</dc:subject>
  <dc:creator>AWS Student Builder Group, REVA University</dc:creator>
  <cp:lastModifiedBy>AWS Student Builder Group, REVA University</cp:lastModifiedBy>
  <cp:revision>1</cp:revision>
  <dcterms:created xsi:type="dcterms:W3CDTF">2026-10-23T04:25:31Z</dcterms:created>
  <dcterms:modified xsi:type="dcterms:W3CDTF">2026-10-23T04:25:31Z</dcterms:modified>
</cp:coreProperties>
</file>